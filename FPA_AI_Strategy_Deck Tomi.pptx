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2" r:id="rId4"/>
    <p:sldId id="258" r:id="rId5"/>
    <p:sldId id="259" r:id="rId6"/>
    <p:sldId id="266" r:id="rId7"/>
    <p:sldId id="265" r:id="rId8"/>
    <p:sldId id="268" r:id="rId9"/>
    <p:sldId id="260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2962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MASTER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917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254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PRELIMINARY RESEARCH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298448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Augmentation of FP&amp;A Systems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57984"/>
            <a:ext cx="740664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Review of Core Accounting, FP&amp;A Strategic Tools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Existing AI Technologies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Capability gaps, AI augmentation, governance risk and proof-of-concept adoption for our organization.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3649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Candour Housing CIC  ·  Drive Ahead Bookkeeping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33649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June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2D3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AI Augmentation Study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Purpose &amp; Research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study matters and what it sets out to answer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690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CONTEXT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029968"/>
            <a:ext cx="3611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Candour Housing CIC and Drive Ahead Bookkeeping rely on mature accounting platforms — Xero and Sage — yet critical FP&amp;A processes remain dependent on manual data extraction, spreadsheets and disconnected reporting tools.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introduces material risk: variance errors, delayed decisions and limited stakeholder communication.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4698" y="4538707"/>
            <a:ext cx="361188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82880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28600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74320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20040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365760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AI Augmentation Study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37760" y="48920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June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13816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836A2EBB-106C-04C6-83AA-516A942D57F2}"/>
              </a:ext>
            </a:extLst>
          </p:cNvPr>
          <p:cNvSpPr/>
          <p:nvPr/>
        </p:nvSpPr>
        <p:spPr>
          <a:xfrm>
            <a:off x="4480560" y="1371600"/>
            <a:ext cx="40690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FF7214AD-FA06-0808-CE3E-E4AEDBB6D236}"/>
              </a:ext>
            </a:extLst>
          </p:cNvPr>
          <p:cNvSpPr/>
          <p:nvPr/>
        </p:nvSpPr>
        <p:spPr>
          <a:xfrm>
            <a:off x="4572000" y="144475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OPPORTUNITY</a:t>
            </a:r>
            <a:endParaRPr lang="en-US" sz="900" dirty="0"/>
          </a:p>
        </p:txBody>
      </p:sp>
      <p:sp>
        <p:nvSpPr>
          <p:cNvPr id="39" name="Text 9"/>
          <p:cNvSpPr/>
          <p:nvPr/>
        </p:nvSpPr>
        <p:spPr>
          <a:xfrm>
            <a:off x="4549140" y="1677924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AI integration — through LLMs and specialist FP&amp;A AI tools — can address narrative reporting, forecasting interpretation and evidence-based decision support without compromising governance.</a:t>
            </a:r>
            <a:endParaRPr lang="en-US" sz="1100" dirty="0"/>
          </a:p>
        </p:txBody>
      </p:sp>
      <p:sp>
        <p:nvSpPr>
          <p:cNvPr id="40" name="Shape 7">
            <a:extLst>
              <a:ext uri="{FF2B5EF4-FFF2-40B4-BE49-F238E27FC236}">
                <a16:creationId xmlns:a16="http://schemas.microsoft.com/office/drawing/2014/main" id="{6C63A7B4-DC0B-CEC1-7865-6BDC4B37BD9E}"/>
              </a:ext>
            </a:extLst>
          </p:cNvPr>
          <p:cNvSpPr/>
          <p:nvPr/>
        </p:nvSpPr>
        <p:spPr>
          <a:xfrm>
            <a:off x="4709160" y="4538707"/>
            <a:ext cx="361188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97607AE4-0F1B-DE9E-BABB-394AC65D77A9}"/>
              </a:ext>
            </a:extLst>
          </p:cNvPr>
          <p:cNvSpPr/>
          <p:nvPr/>
        </p:nvSpPr>
        <p:spPr>
          <a:xfrm>
            <a:off x="4515362" y="2609585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b="1" kern="0" spc="150" dirty="0">
              <a:solidFill>
                <a:srgbClr val="D719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00" b="1" kern="0" spc="15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CHALLENGES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E4DE47E6-2F36-F84C-73E7-3AB4AF3DE7B2}"/>
              </a:ext>
            </a:extLst>
          </p:cNvPr>
          <p:cNvSpPr/>
          <p:nvPr/>
        </p:nvSpPr>
        <p:spPr>
          <a:xfrm>
            <a:off x="4515362" y="281717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financial information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and Governance Considerations</a:t>
            </a:r>
            <a:endParaRPr lang="en-US" sz="1100" dirty="0"/>
          </a:p>
        </p:txBody>
      </p:sp>
      <p:sp>
        <p:nvSpPr>
          <p:cNvPr id="44" name="Shape 104">
            <a:extLst>
              <a:ext uri="{FF2B5EF4-FFF2-40B4-BE49-F238E27FC236}">
                <a16:creationId xmlns:a16="http://schemas.microsoft.com/office/drawing/2014/main" id="{282C8B5D-222C-76C4-7CC5-BA5DF96C3F5A}"/>
              </a:ext>
            </a:extLst>
          </p:cNvPr>
          <p:cNvSpPr/>
          <p:nvPr/>
        </p:nvSpPr>
        <p:spPr>
          <a:xfrm>
            <a:off x="525439" y="4179162"/>
            <a:ext cx="7795601" cy="457198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9DEE5">
                <a:alpha val="65000"/>
              </a:srgbClr>
            </a:solidFill>
            <a:prstDash val="solid"/>
          </a:ln>
          <a:effectLst>
            <a:outerShdw blurRad="254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r>
              <a:rPr lang="en-US" sz="1350" dirty="0"/>
              <a:t>                 </a:t>
            </a:r>
            <a:r>
              <a:rPr lang="en-US" sz="1350" b="1" dirty="0">
                <a:solidFill>
                  <a:schemeClr val="tx2"/>
                </a:solidFill>
                <a:latin typeface="Bradley Hand ITC" panose="03070402050302030203" pitchFamily="66" charset="0"/>
              </a:rPr>
              <a:t>‘ AI is not just improving bookkeeping and FP&amp;A function , it is reshaping what the function is</a:t>
            </a:r>
            <a:r>
              <a:rPr lang="en-US" sz="1350" dirty="0">
                <a:solidFill>
                  <a:schemeClr val="accent1">
                    <a:lumMod val="75000"/>
                  </a:schemeClr>
                </a:solidFill>
                <a:latin typeface="Bradley Hand ITC" panose="03070402050302030203" pitchFamily="66" charset="0"/>
              </a:rPr>
              <a:t> </a:t>
            </a:r>
            <a:r>
              <a:rPr lang="en-US" sz="1350" b="1" dirty="0">
                <a:solidFill>
                  <a:schemeClr val="accent1">
                    <a:lumMod val="75000"/>
                  </a:schemeClr>
                </a:solidFill>
                <a:latin typeface="Bradley Hand ITC" panose="03070402050302030203" pitchFamily="66" charset="0"/>
              </a:rPr>
              <a:t>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FRAMEWORK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20624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Research Questions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inquiry spanning FP&amp;A capability, platform weaknesses, AI applicability and governance risk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43584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420624" cy="420624"/>
          </a:xfrm>
          <a:prstGeom prst="ellipse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" y="1335024"/>
            <a:ext cx="3410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System Capability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1700784"/>
            <a:ext cx="388620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76479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what extent can established accounting, FP&amp;A and strategic performance management systems be augmented through AI integration, and where do the practical boundaries of such augmentation lie?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243584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6320" y="1335024"/>
            <a:ext cx="420624" cy="420624"/>
          </a:xfrm>
          <a:prstGeom prst="ellipse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353312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67528" y="1335024"/>
            <a:ext cx="3410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Platform Limitations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1700784"/>
            <a:ext cx="388620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76479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persistent structural limitations characterise mature FP&amp;A platforms, and how do these constrain organisational decision-making?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340864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2432304"/>
            <a:ext cx="420624" cy="420624"/>
          </a:xfrm>
          <a:prstGeom prst="ellipse">
            <a:avLst/>
          </a:prstGeom>
          <a:solidFill>
            <a:srgbClr val="1F29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450592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24128" y="2432304"/>
            <a:ext cx="3410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Comparative Analysis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2798064"/>
            <a:ext cx="388620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286207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Xero, Datarails, Cube, QuickBooks Online Advanced, Sage Intacct and Oracle NetSuite differ in their functional responses to identified FP&amp;A limitations?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340864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2432304"/>
            <a:ext cx="420624" cy="420624"/>
          </a:xfrm>
          <a:prstGeom prst="ellipse">
            <a:avLst/>
          </a:prstGeom>
          <a:solidFill>
            <a:srgbClr val="1F29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2450592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67528" y="2432304"/>
            <a:ext cx="3410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Technology Applicability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2798064"/>
            <a:ext cx="388620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286207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AI technologies demonstrate meaningful applicability to the human-centred dimensions of financial planning, forecasting and decision support?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438144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420624" cy="420624"/>
          </a:xfrm>
          <a:prstGeom prst="ellipse">
            <a:avLst/>
          </a:prstGeom>
          <a:solidFill>
            <a:srgbClr val="4B55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3547872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24128" y="3529584"/>
            <a:ext cx="3410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Governance &amp; Risk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3895344"/>
            <a:ext cx="388620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395935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what degree can Claude AI, ChatGPT, Gemini, Meta AI, Perplexity, Microsoft Copilot and Basis AI address identified FP&amp;A weaknesses while maintaining acceptable standards of data integrity, governance and assurance?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438144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46320" y="3529584"/>
            <a:ext cx="420624" cy="420624"/>
          </a:xfrm>
          <a:prstGeom prst="ellipse">
            <a:avLst/>
          </a:prstGeom>
          <a:solidFill>
            <a:srgbClr val="4B55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46320" y="3547872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67528" y="3529584"/>
            <a:ext cx="3410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LLM Suitability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846320" y="3895344"/>
            <a:ext cx="388620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46320" y="395935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Claude AI, ChatGPT, Gemini, Meta AI, Perplexity, Microsoft Copilot and Basis AI each differ in their specific approaches to resolving identified FP&amp;A weaknesses?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AI Augmentation Study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37760" y="48920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June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13816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SITUATION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Environment: Present State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two organisations currently depend on — and where gaps emerge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69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904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DEPENDENCY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7007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Accounting Stack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93392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 and Sage serve as primary financial management platforms. Both deliver robust transaction processing, compliance reporting and cloud-based accessibility — but neither provides mature native FP&amp;A or predictive analytics.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971800"/>
            <a:ext cx="4069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30906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 RISK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33101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Dependency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593592"/>
            <a:ext cx="3611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Budgeting, forecasting and variance analysis continue to run through manual spreadsheet workflows — increasing the probability of human error, data versioning conflicts and reporting delays.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3716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15727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800600" y="21945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FP&amp;A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Reviewed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48272" y="13716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39712" y="15727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839712" y="21945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Platforms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31729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800600" y="37947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— SME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Scope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48272" y="29718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39712" y="31729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839712" y="37947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Gap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Identified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AI Augmentation Study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48920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June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13816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Gaps Across Mature FP&amp;A Platforms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structural weaknesses constraining financial decision-making quality and speed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27432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472184"/>
            <a:ext cx="384048" cy="384048"/>
          </a:xfrm>
          <a:prstGeom prst="ellipse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9047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87552" y="1472184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Dependency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1865376"/>
            <a:ext cx="246888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budgeting and forecasting remain outside the platform in Excel — introducing version control, formula error and audit trail gaps.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55264" y="1353312"/>
            <a:ext cx="27432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92424" y="1472184"/>
            <a:ext cx="384048" cy="384048"/>
          </a:xfrm>
          <a:prstGeom prst="ellipse">
            <a:avLst/>
          </a:prstGeom>
          <a:solidFill>
            <a:srgbClr val="D7192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92424" y="149047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77056" y="1472184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Reporting Gap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92424" y="1865376"/>
            <a:ext cx="246888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92424" y="1920240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generate numbers but not explanations. Finance teams must manually translate outputs into stakeholder-ready commentary.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44768" y="1353312"/>
            <a:ext cx="27432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81928" y="1472184"/>
            <a:ext cx="384048" cy="384048"/>
          </a:xfrm>
          <a:prstGeom prst="ellipse">
            <a:avLst/>
          </a:prstGeom>
          <a:solidFill>
            <a:srgbClr val="1F29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81928" y="149047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66560" y="1472184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 Architecture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81928" y="1865376"/>
            <a:ext cx="246888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81928" y="1920240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data sources across payroll, CRM and operational tools create reconciliation overhead and delay consolidated views.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2816352"/>
            <a:ext cx="27432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2920" y="2935224"/>
            <a:ext cx="384048" cy="384048"/>
          </a:xfrm>
          <a:prstGeom prst="ellipse">
            <a:avLst/>
          </a:prstGeom>
          <a:solidFill>
            <a:srgbClr val="1F29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295351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87552" y="2935224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Adoption Barriers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3328416"/>
            <a:ext cx="246888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3383280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learning curves and interface complexity slow implementation ROI — particularly acute in sub-200 staff organisations.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55264" y="2816352"/>
            <a:ext cx="27432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92424" y="2935224"/>
            <a:ext cx="384048" cy="384048"/>
          </a:xfrm>
          <a:prstGeom prst="ellipse">
            <a:avLst/>
          </a:prstGeom>
          <a:solidFill>
            <a:srgbClr val="4B55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92424" y="295351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77056" y="2935224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Implementation Effort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392424" y="3328416"/>
            <a:ext cx="246888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92424" y="3383280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and enterprise FP&amp;A platforms carry high licence and setup costs disproportionate to SME scale and capacity.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44768" y="2816352"/>
            <a:ext cx="27432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81928" y="2935224"/>
            <a:ext cx="384048" cy="384048"/>
          </a:xfrm>
          <a:prstGeom prst="ellipse">
            <a:avLst/>
          </a:prstGeom>
          <a:solidFill>
            <a:srgbClr val="4B55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81928" y="295351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66560" y="2935224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Decision Support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81928" y="3328416"/>
            <a:ext cx="246888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81928" y="3383280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surface data but provide insufficient contextual guidance for non-finance stakeholders to act with confidence.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AI Augmentation Study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37760" y="48920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June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13816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130302"/>
            <a:ext cx="26060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 b="1" dirty="0">
                <a:solidFill>
                  <a:srgbClr val="D71920"/>
                </a:solidFill>
                <a:latin typeface="Aptos Light" panose="020F0502020204030204" pitchFamily="34" charset="0"/>
                <a:ea typeface="Aptos" pitchFamily="34" charset="-122"/>
                <a:cs typeface="Aptos" pitchFamily="34" charset="-120"/>
              </a:rPr>
              <a:t>P L A T F O R M   A S S E S S M E N T</a:t>
            </a:r>
            <a:endParaRPr lang="en-US" sz="900" dirty="0">
              <a:latin typeface="Aptos Light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900" y="294894"/>
            <a:ext cx="48006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19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Bookkeeping Tools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56616" y="589788"/>
            <a:ext cx="28803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63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rating across core bookkeeping tools</a:t>
            </a:r>
            <a:endParaRPr lang="en-US" sz="630" dirty="0"/>
          </a:p>
        </p:txBody>
      </p:sp>
      <p:sp>
        <p:nvSpPr>
          <p:cNvPr id="5" name="Text 3"/>
          <p:cNvSpPr/>
          <p:nvPr/>
        </p:nvSpPr>
        <p:spPr>
          <a:xfrm>
            <a:off x="6195062" y="178308"/>
            <a:ext cx="2052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 b="1" dirty="0">
                <a:solidFill>
                  <a:srgbClr val="D71920"/>
                </a:solidFill>
                <a:latin typeface="Bradley Hand ITC" panose="03070402050302030203" pitchFamily="66" charset="0"/>
                <a:ea typeface="Aptos" pitchFamily="34" charset="-122"/>
                <a:cs typeface="Aptos" pitchFamily="34" charset="-120"/>
              </a:rPr>
              <a:t>R A T I N G   S C A L E</a:t>
            </a:r>
            <a:endParaRPr lang="en-US" sz="900" dirty="0">
              <a:latin typeface="Bradley Hand ITC" panose="03070402050302030203" pitchFamily="66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14950" y="452628"/>
            <a:ext cx="726948" cy="164592"/>
          </a:xfrm>
          <a:prstGeom prst="roundRect">
            <a:avLst/>
          </a:prstGeom>
          <a:solidFill>
            <a:srgbClr val="0F4A68"/>
          </a:solidFill>
          <a:ln w="2540">
            <a:solidFill>
              <a:srgbClr val="0F4A68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503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Strong</a:t>
            </a:r>
            <a:endParaRPr lang="en-US" sz="503" dirty="0"/>
          </a:p>
        </p:txBody>
      </p:sp>
      <p:sp>
        <p:nvSpPr>
          <p:cNvPr id="7" name="Text 5"/>
          <p:cNvSpPr/>
          <p:nvPr/>
        </p:nvSpPr>
        <p:spPr>
          <a:xfrm>
            <a:off x="6206490" y="452628"/>
            <a:ext cx="726948" cy="164592"/>
          </a:xfrm>
          <a:prstGeom prst="roundRect">
            <a:avLst/>
          </a:prstGeom>
          <a:solidFill>
            <a:srgbClr val="2F89C7"/>
          </a:solidFill>
          <a:ln w="2540">
            <a:solidFill>
              <a:srgbClr val="2F89C7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503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503" dirty="0"/>
          </a:p>
        </p:txBody>
      </p:sp>
      <p:sp>
        <p:nvSpPr>
          <p:cNvPr id="8" name="Text 6"/>
          <p:cNvSpPr/>
          <p:nvPr/>
        </p:nvSpPr>
        <p:spPr>
          <a:xfrm>
            <a:off x="7098030" y="452628"/>
            <a:ext cx="726948" cy="164592"/>
          </a:xfrm>
          <a:prstGeom prst="roundRect">
            <a:avLst/>
          </a:prstGeom>
          <a:solidFill>
            <a:srgbClr val="B8C0CA"/>
          </a:solidFill>
          <a:ln w="2540">
            <a:solidFill>
              <a:srgbClr val="B8C0CA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503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503" dirty="0"/>
          </a:p>
        </p:txBody>
      </p:sp>
      <p:sp>
        <p:nvSpPr>
          <p:cNvPr id="9" name="Text 7"/>
          <p:cNvSpPr/>
          <p:nvPr/>
        </p:nvSpPr>
        <p:spPr>
          <a:xfrm>
            <a:off x="7989570" y="452628"/>
            <a:ext cx="726948" cy="164592"/>
          </a:xfrm>
          <a:prstGeom prst="roundRect">
            <a:avLst/>
          </a:prstGeom>
          <a:solidFill>
            <a:srgbClr val="DCE2E8"/>
          </a:solidFill>
          <a:ln w="2540">
            <a:solidFill>
              <a:srgbClr val="DCE2E8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503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Emerging</a:t>
            </a:r>
            <a:endParaRPr lang="en-US" sz="503" dirty="0"/>
          </a:p>
        </p:txBody>
      </p:sp>
      <p:sp>
        <p:nvSpPr>
          <p:cNvPr id="10" name="Text 8"/>
          <p:cNvSpPr/>
          <p:nvPr/>
        </p:nvSpPr>
        <p:spPr>
          <a:xfrm>
            <a:off x="274320" y="781812"/>
            <a:ext cx="2551176" cy="288036"/>
          </a:xfrm>
          <a:prstGeom prst="rect">
            <a:avLst/>
          </a:prstGeom>
          <a:solidFill>
            <a:srgbClr val="1F2933"/>
          </a:solidFill>
          <a:ln/>
        </p:spPr>
        <p:txBody>
          <a:bodyPr wrap="square" lIns="1619" tIns="1619" rIns="1619" bIns="1619" rtlCol="0" anchor="ctr">
            <a:normAutofit/>
          </a:bodyPr>
          <a:lstStyle/>
          <a:p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Bookkeeping Function</a:t>
            </a:r>
            <a:endParaRPr lang="en-US" sz="630" dirty="0"/>
          </a:p>
        </p:txBody>
      </p:sp>
      <p:sp>
        <p:nvSpPr>
          <p:cNvPr id="11" name="Text 9"/>
          <p:cNvSpPr/>
          <p:nvPr/>
        </p:nvSpPr>
        <p:spPr>
          <a:xfrm>
            <a:off x="2825496" y="781812"/>
            <a:ext cx="1513904" cy="288036"/>
          </a:xfrm>
          <a:prstGeom prst="rect">
            <a:avLst/>
          </a:prstGeom>
          <a:solidFill>
            <a:srgbClr val="1F2933"/>
          </a:solidFill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Xero</a:t>
            </a:r>
            <a:endParaRPr lang="en-US" sz="630" dirty="0"/>
          </a:p>
        </p:txBody>
      </p:sp>
      <p:sp>
        <p:nvSpPr>
          <p:cNvPr id="12" name="Text 10"/>
          <p:cNvSpPr/>
          <p:nvPr/>
        </p:nvSpPr>
        <p:spPr>
          <a:xfrm>
            <a:off x="4339399" y="781812"/>
            <a:ext cx="1513904" cy="288036"/>
          </a:xfrm>
          <a:prstGeom prst="rect">
            <a:avLst/>
          </a:prstGeom>
          <a:solidFill>
            <a:srgbClr val="1F2933"/>
          </a:solidFill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533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QuickBooks Online Advanced</a:t>
            </a:r>
            <a:endParaRPr lang="en-US" sz="533" dirty="0"/>
          </a:p>
        </p:txBody>
      </p:sp>
      <p:sp>
        <p:nvSpPr>
          <p:cNvPr id="13" name="Text 11"/>
          <p:cNvSpPr/>
          <p:nvPr/>
        </p:nvSpPr>
        <p:spPr>
          <a:xfrm>
            <a:off x="5853303" y="781812"/>
            <a:ext cx="1513904" cy="288036"/>
          </a:xfrm>
          <a:prstGeom prst="rect">
            <a:avLst/>
          </a:prstGeom>
          <a:solidFill>
            <a:srgbClr val="1F2933"/>
          </a:solidFill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Sage Intacct</a:t>
            </a:r>
            <a:endParaRPr lang="en-US" sz="630" dirty="0"/>
          </a:p>
        </p:txBody>
      </p:sp>
      <p:sp>
        <p:nvSpPr>
          <p:cNvPr id="14" name="Text 12"/>
          <p:cNvSpPr/>
          <p:nvPr/>
        </p:nvSpPr>
        <p:spPr>
          <a:xfrm>
            <a:off x="7367206" y="781812"/>
            <a:ext cx="1513904" cy="288036"/>
          </a:xfrm>
          <a:prstGeom prst="rect">
            <a:avLst/>
          </a:prstGeom>
          <a:solidFill>
            <a:srgbClr val="1F2933"/>
          </a:solidFill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6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NetSuite</a:t>
            </a:r>
            <a:endParaRPr lang="en-US" sz="630" dirty="0"/>
          </a:p>
        </p:txBody>
      </p:sp>
      <p:sp>
        <p:nvSpPr>
          <p:cNvPr id="15" name="Text 13"/>
          <p:cNvSpPr/>
          <p:nvPr/>
        </p:nvSpPr>
        <p:spPr>
          <a:xfrm>
            <a:off x="274320" y="1069848"/>
            <a:ext cx="2551176" cy="312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16" name="Text 14"/>
          <p:cNvSpPr/>
          <p:nvPr/>
        </p:nvSpPr>
        <p:spPr>
          <a:xfrm>
            <a:off x="384048" y="1069848"/>
            <a:ext cx="2400300" cy="312039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653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  Sales invoicing &amp; accounts receivable</a:t>
            </a:r>
            <a:endParaRPr lang="en-US" sz="653" dirty="0"/>
          </a:p>
        </p:txBody>
      </p:sp>
      <p:sp>
        <p:nvSpPr>
          <p:cNvPr id="17" name="Text 15"/>
          <p:cNvSpPr/>
          <p:nvPr/>
        </p:nvSpPr>
        <p:spPr>
          <a:xfrm>
            <a:off x="2825496" y="1069848"/>
            <a:ext cx="1513904" cy="312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18" name="Text 16"/>
          <p:cNvSpPr/>
          <p:nvPr/>
        </p:nvSpPr>
        <p:spPr>
          <a:xfrm>
            <a:off x="4339399" y="1069848"/>
            <a:ext cx="1513904" cy="312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19" name="Text 17"/>
          <p:cNvSpPr/>
          <p:nvPr/>
        </p:nvSpPr>
        <p:spPr>
          <a:xfrm>
            <a:off x="5853303" y="1069848"/>
            <a:ext cx="1513904" cy="312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20" name="Text 18"/>
          <p:cNvSpPr/>
          <p:nvPr/>
        </p:nvSpPr>
        <p:spPr>
          <a:xfrm>
            <a:off x="7367206" y="1069848"/>
            <a:ext cx="1513904" cy="312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21" name="Text 19"/>
          <p:cNvSpPr/>
          <p:nvPr/>
        </p:nvSpPr>
        <p:spPr>
          <a:xfrm>
            <a:off x="2948940" y="1123340"/>
            <a:ext cx="1267016" cy="205055"/>
          </a:xfrm>
          <a:prstGeom prst="roundRect">
            <a:avLst/>
          </a:prstGeom>
          <a:solidFill>
            <a:srgbClr val="2F89C7"/>
          </a:solidFill>
          <a:ln w="2540">
            <a:solidFill>
              <a:srgbClr val="2F89C7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4462843" y="1123340"/>
            <a:ext cx="1267016" cy="205055"/>
          </a:xfrm>
          <a:prstGeom prst="roundRect">
            <a:avLst/>
          </a:prstGeom>
          <a:solidFill>
            <a:srgbClr val="2F89C7"/>
          </a:solidFill>
          <a:ln w="2540">
            <a:solidFill>
              <a:srgbClr val="2F89C7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5976747" y="1123340"/>
            <a:ext cx="1267016" cy="205055"/>
          </a:xfrm>
          <a:prstGeom prst="roundRect">
            <a:avLst/>
          </a:prstGeom>
          <a:solidFill>
            <a:srgbClr val="2F89C7"/>
          </a:solidFill>
          <a:ln w="2540">
            <a:solidFill>
              <a:srgbClr val="2F89C7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7490650" y="1123340"/>
            <a:ext cx="1267016" cy="205055"/>
          </a:xfrm>
          <a:prstGeom prst="roundRect">
            <a:avLst/>
          </a:prstGeom>
          <a:solidFill>
            <a:srgbClr val="0F4A68"/>
          </a:solidFill>
          <a:ln w="2540">
            <a:solidFill>
              <a:srgbClr val="0F4A68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Strong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274320" y="1381887"/>
            <a:ext cx="2551176" cy="312039"/>
          </a:xfrm>
          <a:prstGeom prst="rect">
            <a:avLst/>
          </a:prstGeom>
          <a:solidFill>
            <a:srgbClr val="F9FAFB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26" name="Text 24"/>
          <p:cNvSpPr/>
          <p:nvPr/>
        </p:nvSpPr>
        <p:spPr>
          <a:xfrm>
            <a:off x="384048" y="1381887"/>
            <a:ext cx="2400300" cy="312039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653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  Purchase bills &amp; accounts payable</a:t>
            </a:r>
            <a:endParaRPr lang="en-US" sz="653" dirty="0"/>
          </a:p>
        </p:txBody>
      </p:sp>
      <p:sp>
        <p:nvSpPr>
          <p:cNvPr id="27" name="Text 25"/>
          <p:cNvSpPr/>
          <p:nvPr/>
        </p:nvSpPr>
        <p:spPr>
          <a:xfrm>
            <a:off x="2825496" y="1381887"/>
            <a:ext cx="1513904" cy="312039"/>
          </a:xfrm>
          <a:prstGeom prst="rect">
            <a:avLst/>
          </a:prstGeom>
          <a:solidFill>
            <a:srgbClr val="F9FAFB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28" name="Text 26"/>
          <p:cNvSpPr/>
          <p:nvPr/>
        </p:nvSpPr>
        <p:spPr>
          <a:xfrm>
            <a:off x="4339399" y="1381887"/>
            <a:ext cx="1513904" cy="312039"/>
          </a:xfrm>
          <a:prstGeom prst="rect">
            <a:avLst/>
          </a:prstGeom>
          <a:solidFill>
            <a:srgbClr val="F9FAFB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29" name="Text 27"/>
          <p:cNvSpPr/>
          <p:nvPr/>
        </p:nvSpPr>
        <p:spPr>
          <a:xfrm>
            <a:off x="5853303" y="1381887"/>
            <a:ext cx="1513904" cy="312039"/>
          </a:xfrm>
          <a:prstGeom prst="rect">
            <a:avLst/>
          </a:prstGeom>
          <a:solidFill>
            <a:srgbClr val="F9FAFB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30" name="Text 28"/>
          <p:cNvSpPr/>
          <p:nvPr/>
        </p:nvSpPr>
        <p:spPr>
          <a:xfrm>
            <a:off x="7367206" y="1381887"/>
            <a:ext cx="1513904" cy="312039"/>
          </a:xfrm>
          <a:prstGeom prst="rect">
            <a:avLst/>
          </a:prstGeom>
          <a:solidFill>
            <a:srgbClr val="F9FAFB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31" name="Text 29"/>
          <p:cNvSpPr/>
          <p:nvPr/>
        </p:nvSpPr>
        <p:spPr>
          <a:xfrm>
            <a:off x="2948940" y="1435379"/>
            <a:ext cx="1267016" cy="205055"/>
          </a:xfrm>
          <a:prstGeom prst="roundRect">
            <a:avLst/>
          </a:prstGeom>
          <a:solidFill>
            <a:srgbClr val="2F89C7"/>
          </a:solidFill>
          <a:ln w="2540">
            <a:solidFill>
              <a:srgbClr val="2F89C7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4462843" y="1435379"/>
            <a:ext cx="1267016" cy="205055"/>
          </a:xfrm>
          <a:prstGeom prst="roundRect">
            <a:avLst/>
          </a:prstGeom>
          <a:solidFill>
            <a:srgbClr val="2F89C7"/>
          </a:solidFill>
          <a:ln w="2540">
            <a:solidFill>
              <a:srgbClr val="2F89C7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5976747" y="1435379"/>
            <a:ext cx="1267016" cy="205055"/>
          </a:xfrm>
          <a:prstGeom prst="roundRect">
            <a:avLst/>
          </a:prstGeom>
          <a:solidFill>
            <a:srgbClr val="0F4A68"/>
          </a:solidFill>
          <a:ln w="2540">
            <a:solidFill>
              <a:srgbClr val="0F4A68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Strong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7490650" y="1435379"/>
            <a:ext cx="1267016" cy="205055"/>
          </a:xfrm>
          <a:prstGeom prst="roundRect">
            <a:avLst/>
          </a:prstGeom>
          <a:solidFill>
            <a:srgbClr val="0F4A68"/>
          </a:solidFill>
          <a:ln w="2540">
            <a:solidFill>
              <a:srgbClr val="0F4A68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Strong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74320" y="1693926"/>
            <a:ext cx="2551176" cy="312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36" name="Text 34"/>
          <p:cNvSpPr/>
          <p:nvPr/>
        </p:nvSpPr>
        <p:spPr>
          <a:xfrm>
            <a:off x="384048" y="1693926"/>
            <a:ext cx="2400300" cy="312039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653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  Bank feeds &amp; reconciliation</a:t>
            </a:r>
            <a:endParaRPr lang="en-US" sz="653" dirty="0"/>
          </a:p>
        </p:txBody>
      </p:sp>
      <p:sp>
        <p:nvSpPr>
          <p:cNvPr id="37" name="Text 35"/>
          <p:cNvSpPr/>
          <p:nvPr/>
        </p:nvSpPr>
        <p:spPr>
          <a:xfrm>
            <a:off x="2825496" y="1693926"/>
            <a:ext cx="1513904" cy="312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38" name="Text 36"/>
          <p:cNvSpPr/>
          <p:nvPr/>
        </p:nvSpPr>
        <p:spPr>
          <a:xfrm>
            <a:off x="4339399" y="1693926"/>
            <a:ext cx="1513904" cy="312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39" name="Text 37"/>
          <p:cNvSpPr/>
          <p:nvPr/>
        </p:nvSpPr>
        <p:spPr>
          <a:xfrm>
            <a:off x="5853303" y="1693926"/>
            <a:ext cx="1513904" cy="312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40" name="Text 38"/>
          <p:cNvSpPr/>
          <p:nvPr/>
        </p:nvSpPr>
        <p:spPr>
          <a:xfrm>
            <a:off x="7367206" y="1693926"/>
            <a:ext cx="1513904" cy="312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41" name="Text 39"/>
          <p:cNvSpPr/>
          <p:nvPr/>
        </p:nvSpPr>
        <p:spPr>
          <a:xfrm>
            <a:off x="2948940" y="1747418"/>
            <a:ext cx="1267016" cy="205055"/>
          </a:xfrm>
          <a:prstGeom prst="roundRect">
            <a:avLst/>
          </a:prstGeom>
          <a:solidFill>
            <a:srgbClr val="0F4A68"/>
          </a:solidFill>
          <a:ln w="2540">
            <a:solidFill>
              <a:srgbClr val="0F4A68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Strong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4462843" y="1747418"/>
            <a:ext cx="1267016" cy="205055"/>
          </a:xfrm>
          <a:prstGeom prst="roundRect">
            <a:avLst/>
          </a:prstGeom>
          <a:solidFill>
            <a:srgbClr val="0F4A68"/>
          </a:solidFill>
          <a:ln w="2540">
            <a:solidFill>
              <a:srgbClr val="0F4A68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Strong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5976747" y="1747418"/>
            <a:ext cx="1267016" cy="205055"/>
          </a:xfrm>
          <a:prstGeom prst="roundRect">
            <a:avLst/>
          </a:prstGeom>
          <a:solidFill>
            <a:srgbClr val="2F89C7"/>
          </a:solidFill>
          <a:ln w="2540">
            <a:solidFill>
              <a:srgbClr val="2F89C7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7490650" y="1747418"/>
            <a:ext cx="1267016" cy="205055"/>
          </a:xfrm>
          <a:prstGeom prst="roundRect">
            <a:avLst/>
          </a:prstGeom>
          <a:solidFill>
            <a:srgbClr val="0F4A68"/>
          </a:solidFill>
          <a:ln w="2540">
            <a:solidFill>
              <a:srgbClr val="0F4A68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Strong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274320" y="2005965"/>
            <a:ext cx="2551176" cy="312039"/>
          </a:xfrm>
          <a:prstGeom prst="rect">
            <a:avLst/>
          </a:prstGeom>
          <a:solidFill>
            <a:srgbClr val="F9FAFB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46" name="Text 44"/>
          <p:cNvSpPr/>
          <p:nvPr/>
        </p:nvSpPr>
        <p:spPr>
          <a:xfrm>
            <a:off x="384048" y="2005965"/>
            <a:ext cx="2400300" cy="312039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653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  Expenses &amp; receipt capture</a:t>
            </a:r>
            <a:endParaRPr lang="en-US" sz="653" dirty="0"/>
          </a:p>
        </p:txBody>
      </p:sp>
      <p:sp>
        <p:nvSpPr>
          <p:cNvPr id="47" name="Text 45"/>
          <p:cNvSpPr/>
          <p:nvPr/>
        </p:nvSpPr>
        <p:spPr>
          <a:xfrm>
            <a:off x="2825496" y="2005965"/>
            <a:ext cx="1513904" cy="312039"/>
          </a:xfrm>
          <a:prstGeom prst="rect">
            <a:avLst/>
          </a:prstGeom>
          <a:solidFill>
            <a:srgbClr val="F9FAFB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48" name="Text 46"/>
          <p:cNvSpPr/>
          <p:nvPr/>
        </p:nvSpPr>
        <p:spPr>
          <a:xfrm>
            <a:off x="4339399" y="2005965"/>
            <a:ext cx="1513904" cy="312039"/>
          </a:xfrm>
          <a:prstGeom prst="rect">
            <a:avLst/>
          </a:prstGeom>
          <a:solidFill>
            <a:srgbClr val="F9FAFB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49" name="Text 47"/>
          <p:cNvSpPr/>
          <p:nvPr/>
        </p:nvSpPr>
        <p:spPr>
          <a:xfrm>
            <a:off x="5853303" y="2005965"/>
            <a:ext cx="1513904" cy="312039"/>
          </a:xfrm>
          <a:prstGeom prst="rect">
            <a:avLst/>
          </a:prstGeom>
          <a:solidFill>
            <a:srgbClr val="F9FAFB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50" name="Text 48"/>
          <p:cNvSpPr/>
          <p:nvPr/>
        </p:nvSpPr>
        <p:spPr>
          <a:xfrm>
            <a:off x="7367206" y="2005965"/>
            <a:ext cx="1513904" cy="312039"/>
          </a:xfrm>
          <a:prstGeom prst="rect">
            <a:avLst/>
          </a:prstGeom>
          <a:solidFill>
            <a:srgbClr val="F9FAFB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51" name="Text 49"/>
          <p:cNvSpPr/>
          <p:nvPr/>
        </p:nvSpPr>
        <p:spPr>
          <a:xfrm>
            <a:off x="2948940" y="2059457"/>
            <a:ext cx="1267016" cy="205055"/>
          </a:xfrm>
          <a:prstGeom prst="roundRect">
            <a:avLst/>
          </a:prstGeom>
          <a:solidFill>
            <a:srgbClr val="2F89C7"/>
          </a:solidFill>
          <a:ln w="2540">
            <a:solidFill>
              <a:srgbClr val="2F89C7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4462843" y="2059457"/>
            <a:ext cx="1267016" cy="205055"/>
          </a:xfrm>
          <a:prstGeom prst="roundRect">
            <a:avLst/>
          </a:prstGeom>
          <a:solidFill>
            <a:srgbClr val="2F89C7"/>
          </a:solidFill>
          <a:ln w="2540">
            <a:solidFill>
              <a:srgbClr val="2F89C7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5976747" y="2059457"/>
            <a:ext cx="1267016" cy="205055"/>
          </a:xfrm>
          <a:prstGeom prst="roundRect">
            <a:avLst/>
          </a:prstGeom>
          <a:solidFill>
            <a:srgbClr val="2F89C7"/>
          </a:solidFill>
          <a:ln w="2540">
            <a:solidFill>
              <a:srgbClr val="2F89C7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7490650" y="2059457"/>
            <a:ext cx="1267016" cy="205055"/>
          </a:xfrm>
          <a:prstGeom prst="roundRect">
            <a:avLst/>
          </a:prstGeom>
          <a:solidFill>
            <a:srgbClr val="2F89C7"/>
          </a:solidFill>
          <a:ln w="2540">
            <a:solidFill>
              <a:srgbClr val="2F89C7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274320" y="2318004"/>
            <a:ext cx="2551176" cy="312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56" name="Text 54"/>
          <p:cNvSpPr/>
          <p:nvPr/>
        </p:nvSpPr>
        <p:spPr>
          <a:xfrm>
            <a:off x="384048" y="2318004"/>
            <a:ext cx="2400300" cy="312039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653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  VAT, tax &amp; compliance records</a:t>
            </a:r>
            <a:endParaRPr lang="en-US" sz="653" dirty="0"/>
          </a:p>
        </p:txBody>
      </p:sp>
      <p:sp>
        <p:nvSpPr>
          <p:cNvPr id="57" name="Text 55"/>
          <p:cNvSpPr/>
          <p:nvPr/>
        </p:nvSpPr>
        <p:spPr>
          <a:xfrm>
            <a:off x="2825496" y="2318004"/>
            <a:ext cx="1513904" cy="312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58" name="Text 56"/>
          <p:cNvSpPr/>
          <p:nvPr/>
        </p:nvSpPr>
        <p:spPr>
          <a:xfrm>
            <a:off x="4339399" y="2318004"/>
            <a:ext cx="1513904" cy="312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59" name="Text 57"/>
          <p:cNvSpPr/>
          <p:nvPr/>
        </p:nvSpPr>
        <p:spPr>
          <a:xfrm>
            <a:off x="5853303" y="2318004"/>
            <a:ext cx="1513904" cy="312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60" name="Text 58"/>
          <p:cNvSpPr/>
          <p:nvPr/>
        </p:nvSpPr>
        <p:spPr>
          <a:xfrm>
            <a:off x="7367206" y="2318004"/>
            <a:ext cx="1513904" cy="312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61" name="Text 59"/>
          <p:cNvSpPr/>
          <p:nvPr/>
        </p:nvSpPr>
        <p:spPr>
          <a:xfrm>
            <a:off x="2948940" y="2371496"/>
            <a:ext cx="1267016" cy="205055"/>
          </a:xfrm>
          <a:prstGeom prst="roundRect">
            <a:avLst/>
          </a:prstGeom>
          <a:solidFill>
            <a:srgbClr val="2F89C7"/>
          </a:solidFill>
          <a:ln w="2540">
            <a:solidFill>
              <a:srgbClr val="2F89C7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4462843" y="2371496"/>
            <a:ext cx="1267016" cy="205055"/>
          </a:xfrm>
          <a:prstGeom prst="roundRect">
            <a:avLst/>
          </a:prstGeom>
          <a:solidFill>
            <a:srgbClr val="2F89C7"/>
          </a:solidFill>
          <a:ln w="2540">
            <a:solidFill>
              <a:srgbClr val="2F89C7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5976747" y="2371496"/>
            <a:ext cx="1267016" cy="205055"/>
          </a:xfrm>
          <a:prstGeom prst="roundRect">
            <a:avLst/>
          </a:prstGeom>
          <a:solidFill>
            <a:srgbClr val="2F89C7"/>
          </a:solidFill>
          <a:ln w="2540">
            <a:solidFill>
              <a:srgbClr val="2F89C7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7490650" y="2371496"/>
            <a:ext cx="1267016" cy="205055"/>
          </a:xfrm>
          <a:prstGeom prst="roundRect">
            <a:avLst/>
          </a:prstGeom>
          <a:solidFill>
            <a:srgbClr val="0F4A68"/>
          </a:solidFill>
          <a:ln w="2540">
            <a:solidFill>
              <a:srgbClr val="0F4A68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Strong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274320" y="2630043"/>
            <a:ext cx="2551176" cy="312039"/>
          </a:xfrm>
          <a:prstGeom prst="rect">
            <a:avLst/>
          </a:prstGeom>
          <a:solidFill>
            <a:srgbClr val="F9FAFB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66" name="Text 64"/>
          <p:cNvSpPr/>
          <p:nvPr/>
        </p:nvSpPr>
        <p:spPr>
          <a:xfrm>
            <a:off x="384048" y="2630043"/>
            <a:ext cx="2400300" cy="312039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653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  General ledger &amp; journals</a:t>
            </a:r>
            <a:endParaRPr lang="en-US" sz="653" dirty="0"/>
          </a:p>
        </p:txBody>
      </p:sp>
      <p:sp>
        <p:nvSpPr>
          <p:cNvPr id="67" name="Text 65"/>
          <p:cNvSpPr/>
          <p:nvPr/>
        </p:nvSpPr>
        <p:spPr>
          <a:xfrm>
            <a:off x="2825496" y="2630043"/>
            <a:ext cx="1513904" cy="312039"/>
          </a:xfrm>
          <a:prstGeom prst="rect">
            <a:avLst/>
          </a:prstGeom>
          <a:solidFill>
            <a:srgbClr val="F9FAFB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68" name="Text 66"/>
          <p:cNvSpPr/>
          <p:nvPr/>
        </p:nvSpPr>
        <p:spPr>
          <a:xfrm>
            <a:off x="4339399" y="2630043"/>
            <a:ext cx="1513904" cy="312039"/>
          </a:xfrm>
          <a:prstGeom prst="rect">
            <a:avLst/>
          </a:prstGeom>
          <a:solidFill>
            <a:srgbClr val="F9FAFB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69" name="Text 67"/>
          <p:cNvSpPr/>
          <p:nvPr/>
        </p:nvSpPr>
        <p:spPr>
          <a:xfrm>
            <a:off x="5853303" y="2630043"/>
            <a:ext cx="1513904" cy="312039"/>
          </a:xfrm>
          <a:prstGeom prst="rect">
            <a:avLst/>
          </a:prstGeom>
          <a:solidFill>
            <a:srgbClr val="F9FAFB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70" name="Text 68"/>
          <p:cNvSpPr/>
          <p:nvPr/>
        </p:nvSpPr>
        <p:spPr>
          <a:xfrm>
            <a:off x="7367206" y="2630043"/>
            <a:ext cx="1513904" cy="312039"/>
          </a:xfrm>
          <a:prstGeom prst="rect">
            <a:avLst/>
          </a:prstGeom>
          <a:solidFill>
            <a:srgbClr val="F9FAFB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71" name="Text 69"/>
          <p:cNvSpPr/>
          <p:nvPr/>
        </p:nvSpPr>
        <p:spPr>
          <a:xfrm>
            <a:off x="2948940" y="2683535"/>
            <a:ext cx="1267016" cy="205055"/>
          </a:xfrm>
          <a:prstGeom prst="roundRect">
            <a:avLst/>
          </a:prstGeom>
          <a:solidFill>
            <a:srgbClr val="B8C0CA"/>
          </a:solidFill>
          <a:ln w="2540">
            <a:solidFill>
              <a:srgbClr val="B8C0CA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780" dirty="0"/>
          </a:p>
        </p:txBody>
      </p:sp>
      <p:sp>
        <p:nvSpPr>
          <p:cNvPr id="72" name="Text 70"/>
          <p:cNvSpPr/>
          <p:nvPr/>
        </p:nvSpPr>
        <p:spPr>
          <a:xfrm>
            <a:off x="4462843" y="2683535"/>
            <a:ext cx="1267016" cy="205055"/>
          </a:xfrm>
          <a:prstGeom prst="roundRect">
            <a:avLst/>
          </a:prstGeom>
          <a:solidFill>
            <a:srgbClr val="B8C0CA"/>
          </a:solidFill>
          <a:ln w="2540">
            <a:solidFill>
              <a:srgbClr val="B8C0CA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780" dirty="0"/>
          </a:p>
        </p:txBody>
      </p:sp>
      <p:sp>
        <p:nvSpPr>
          <p:cNvPr id="73" name="Text 71"/>
          <p:cNvSpPr/>
          <p:nvPr/>
        </p:nvSpPr>
        <p:spPr>
          <a:xfrm>
            <a:off x="5976747" y="2683535"/>
            <a:ext cx="1267016" cy="205055"/>
          </a:xfrm>
          <a:prstGeom prst="roundRect">
            <a:avLst/>
          </a:prstGeom>
          <a:solidFill>
            <a:srgbClr val="0F4A68"/>
          </a:solidFill>
          <a:ln w="2540">
            <a:solidFill>
              <a:srgbClr val="0F4A68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Strong</a:t>
            </a:r>
            <a:endParaRPr lang="en-US" sz="780" dirty="0"/>
          </a:p>
        </p:txBody>
      </p:sp>
      <p:sp>
        <p:nvSpPr>
          <p:cNvPr id="74" name="Text 72"/>
          <p:cNvSpPr/>
          <p:nvPr/>
        </p:nvSpPr>
        <p:spPr>
          <a:xfrm>
            <a:off x="7490650" y="2683535"/>
            <a:ext cx="1267016" cy="205055"/>
          </a:xfrm>
          <a:prstGeom prst="roundRect">
            <a:avLst/>
          </a:prstGeom>
          <a:solidFill>
            <a:srgbClr val="0F4A68"/>
          </a:solidFill>
          <a:ln w="2540">
            <a:solidFill>
              <a:srgbClr val="0F4A68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Strong</a:t>
            </a:r>
            <a:endParaRPr lang="en-US" sz="780" dirty="0"/>
          </a:p>
        </p:txBody>
      </p:sp>
      <p:sp>
        <p:nvSpPr>
          <p:cNvPr id="75" name="Text 73"/>
          <p:cNvSpPr/>
          <p:nvPr/>
        </p:nvSpPr>
        <p:spPr>
          <a:xfrm>
            <a:off x="274320" y="2942082"/>
            <a:ext cx="2551176" cy="312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76" name="Text 74"/>
          <p:cNvSpPr/>
          <p:nvPr/>
        </p:nvSpPr>
        <p:spPr>
          <a:xfrm>
            <a:off x="384048" y="2942082"/>
            <a:ext cx="2400300" cy="312039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653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  Payroll-related bookkeeping</a:t>
            </a:r>
            <a:endParaRPr lang="en-US" sz="653" dirty="0"/>
          </a:p>
        </p:txBody>
      </p:sp>
      <p:sp>
        <p:nvSpPr>
          <p:cNvPr id="77" name="Text 75"/>
          <p:cNvSpPr/>
          <p:nvPr/>
        </p:nvSpPr>
        <p:spPr>
          <a:xfrm>
            <a:off x="2825496" y="2942082"/>
            <a:ext cx="1513904" cy="312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78" name="Text 76"/>
          <p:cNvSpPr/>
          <p:nvPr/>
        </p:nvSpPr>
        <p:spPr>
          <a:xfrm>
            <a:off x="4339399" y="2942082"/>
            <a:ext cx="1513904" cy="312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79" name="Text 77"/>
          <p:cNvSpPr/>
          <p:nvPr/>
        </p:nvSpPr>
        <p:spPr>
          <a:xfrm>
            <a:off x="5853303" y="2942082"/>
            <a:ext cx="1513904" cy="312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80" name="Text 78"/>
          <p:cNvSpPr/>
          <p:nvPr/>
        </p:nvSpPr>
        <p:spPr>
          <a:xfrm>
            <a:off x="7367206" y="2942082"/>
            <a:ext cx="1513904" cy="312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81" name="Text 79"/>
          <p:cNvSpPr/>
          <p:nvPr/>
        </p:nvSpPr>
        <p:spPr>
          <a:xfrm>
            <a:off x="2948940" y="2995574"/>
            <a:ext cx="1267016" cy="205055"/>
          </a:xfrm>
          <a:prstGeom prst="roundRect">
            <a:avLst/>
          </a:prstGeom>
          <a:solidFill>
            <a:srgbClr val="B8C0CA"/>
          </a:solidFill>
          <a:ln w="2540">
            <a:solidFill>
              <a:srgbClr val="B8C0CA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780" dirty="0"/>
          </a:p>
        </p:txBody>
      </p:sp>
      <p:sp>
        <p:nvSpPr>
          <p:cNvPr id="82" name="Text 80"/>
          <p:cNvSpPr/>
          <p:nvPr/>
        </p:nvSpPr>
        <p:spPr>
          <a:xfrm>
            <a:off x="4462843" y="2995574"/>
            <a:ext cx="1267016" cy="205055"/>
          </a:xfrm>
          <a:prstGeom prst="roundRect">
            <a:avLst/>
          </a:prstGeom>
          <a:solidFill>
            <a:srgbClr val="B8C0CA"/>
          </a:solidFill>
          <a:ln w="2540">
            <a:solidFill>
              <a:srgbClr val="B8C0CA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780" dirty="0"/>
          </a:p>
        </p:txBody>
      </p:sp>
      <p:sp>
        <p:nvSpPr>
          <p:cNvPr id="83" name="Text 81"/>
          <p:cNvSpPr/>
          <p:nvPr/>
        </p:nvSpPr>
        <p:spPr>
          <a:xfrm>
            <a:off x="5976747" y="2995574"/>
            <a:ext cx="1267016" cy="205055"/>
          </a:xfrm>
          <a:prstGeom prst="roundRect">
            <a:avLst/>
          </a:prstGeom>
          <a:solidFill>
            <a:srgbClr val="2F89C7"/>
          </a:solidFill>
          <a:ln w="2540">
            <a:solidFill>
              <a:srgbClr val="2F89C7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780" dirty="0"/>
          </a:p>
        </p:txBody>
      </p:sp>
      <p:sp>
        <p:nvSpPr>
          <p:cNvPr id="84" name="Text 82"/>
          <p:cNvSpPr/>
          <p:nvPr/>
        </p:nvSpPr>
        <p:spPr>
          <a:xfrm>
            <a:off x="7490650" y="2995574"/>
            <a:ext cx="1267016" cy="205055"/>
          </a:xfrm>
          <a:prstGeom prst="roundRect">
            <a:avLst/>
          </a:prstGeom>
          <a:solidFill>
            <a:srgbClr val="2F89C7"/>
          </a:solidFill>
          <a:ln w="2540">
            <a:solidFill>
              <a:srgbClr val="2F89C7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780" dirty="0"/>
          </a:p>
        </p:txBody>
      </p:sp>
      <p:sp>
        <p:nvSpPr>
          <p:cNvPr id="85" name="Text 83"/>
          <p:cNvSpPr/>
          <p:nvPr/>
        </p:nvSpPr>
        <p:spPr>
          <a:xfrm>
            <a:off x="274320" y="3254121"/>
            <a:ext cx="2551176" cy="312039"/>
          </a:xfrm>
          <a:prstGeom prst="rect">
            <a:avLst/>
          </a:prstGeom>
          <a:solidFill>
            <a:srgbClr val="F9FAFB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86" name="Text 84"/>
          <p:cNvSpPr/>
          <p:nvPr/>
        </p:nvSpPr>
        <p:spPr>
          <a:xfrm>
            <a:off x="384048" y="3254121"/>
            <a:ext cx="2400300" cy="312039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653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  Fixed assets &amp; inventory bookkeeping</a:t>
            </a:r>
            <a:endParaRPr lang="en-US" sz="653" dirty="0"/>
          </a:p>
        </p:txBody>
      </p:sp>
      <p:sp>
        <p:nvSpPr>
          <p:cNvPr id="87" name="Text 85"/>
          <p:cNvSpPr/>
          <p:nvPr/>
        </p:nvSpPr>
        <p:spPr>
          <a:xfrm>
            <a:off x="2825496" y="3254121"/>
            <a:ext cx="1513904" cy="312039"/>
          </a:xfrm>
          <a:prstGeom prst="rect">
            <a:avLst/>
          </a:prstGeom>
          <a:solidFill>
            <a:srgbClr val="F9FAFB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88" name="Text 86"/>
          <p:cNvSpPr/>
          <p:nvPr/>
        </p:nvSpPr>
        <p:spPr>
          <a:xfrm>
            <a:off x="4339399" y="3254121"/>
            <a:ext cx="1513904" cy="312039"/>
          </a:xfrm>
          <a:prstGeom prst="rect">
            <a:avLst/>
          </a:prstGeom>
          <a:solidFill>
            <a:srgbClr val="F9FAFB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89" name="Text 87"/>
          <p:cNvSpPr/>
          <p:nvPr/>
        </p:nvSpPr>
        <p:spPr>
          <a:xfrm>
            <a:off x="5853303" y="3254121"/>
            <a:ext cx="1513904" cy="312039"/>
          </a:xfrm>
          <a:prstGeom prst="rect">
            <a:avLst/>
          </a:prstGeom>
          <a:solidFill>
            <a:srgbClr val="F9FAFB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90" name="Text 88"/>
          <p:cNvSpPr/>
          <p:nvPr/>
        </p:nvSpPr>
        <p:spPr>
          <a:xfrm>
            <a:off x="7367206" y="3254121"/>
            <a:ext cx="1513904" cy="312039"/>
          </a:xfrm>
          <a:prstGeom prst="rect">
            <a:avLst/>
          </a:prstGeom>
          <a:solidFill>
            <a:srgbClr val="F9FAFB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91" name="Text 89"/>
          <p:cNvSpPr/>
          <p:nvPr/>
        </p:nvSpPr>
        <p:spPr>
          <a:xfrm>
            <a:off x="2948940" y="3307613"/>
            <a:ext cx="1267016" cy="205055"/>
          </a:xfrm>
          <a:prstGeom prst="roundRect">
            <a:avLst/>
          </a:prstGeom>
          <a:solidFill>
            <a:srgbClr val="B8C0CA"/>
          </a:solidFill>
          <a:ln w="2540">
            <a:solidFill>
              <a:srgbClr val="B8C0CA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780" dirty="0"/>
          </a:p>
        </p:txBody>
      </p:sp>
      <p:sp>
        <p:nvSpPr>
          <p:cNvPr id="92" name="Text 90"/>
          <p:cNvSpPr/>
          <p:nvPr/>
        </p:nvSpPr>
        <p:spPr>
          <a:xfrm>
            <a:off x="4462843" y="3307613"/>
            <a:ext cx="1267016" cy="205055"/>
          </a:xfrm>
          <a:prstGeom prst="roundRect">
            <a:avLst/>
          </a:prstGeom>
          <a:solidFill>
            <a:srgbClr val="B8C0CA"/>
          </a:solidFill>
          <a:ln w="2540">
            <a:solidFill>
              <a:srgbClr val="B8C0CA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780" dirty="0"/>
          </a:p>
        </p:txBody>
      </p:sp>
      <p:sp>
        <p:nvSpPr>
          <p:cNvPr id="93" name="Text 91"/>
          <p:cNvSpPr/>
          <p:nvPr/>
        </p:nvSpPr>
        <p:spPr>
          <a:xfrm>
            <a:off x="5976747" y="3307613"/>
            <a:ext cx="1267016" cy="205055"/>
          </a:xfrm>
          <a:prstGeom prst="roundRect">
            <a:avLst/>
          </a:prstGeom>
          <a:solidFill>
            <a:srgbClr val="2F89C7"/>
          </a:solidFill>
          <a:ln w="2540">
            <a:solidFill>
              <a:srgbClr val="2F89C7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780" dirty="0"/>
          </a:p>
        </p:txBody>
      </p:sp>
      <p:sp>
        <p:nvSpPr>
          <p:cNvPr id="94" name="Text 92"/>
          <p:cNvSpPr/>
          <p:nvPr/>
        </p:nvSpPr>
        <p:spPr>
          <a:xfrm>
            <a:off x="7490650" y="3307613"/>
            <a:ext cx="1267016" cy="205055"/>
          </a:xfrm>
          <a:prstGeom prst="roundRect">
            <a:avLst/>
          </a:prstGeom>
          <a:solidFill>
            <a:srgbClr val="0F4A68"/>
          </a:solidFill>
          <a:ln w="2540">
            <a:solidFill>
              <a:srgbClr val="0F4A68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Strong</a:t>
            </a:r>
            <a:endParaRPr lang="en-US" sz="780" dirty="0"/>
          </a:p>
        </p:txBody>
      </p:sp>
      <p:sp>
        <p:nvSpPr>
          <p:cNvPr id="95" name="Text 93"/>
          <p:cNvSpPr/>
          <p:nvPr/>
        </p:nvSpPr>
        <p:spPr>
          <a:xfrm>
            <a:off x="274320" y="3566160"/>
            <a:ext cx="2551176" cy="312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96" name="Text 94"/>
          <p:cNvSpPr/>
          <p:nvPr/>
        </p:nvSpPr>
        <p:spPr>
          <a:xfrm>
            <a:off x="384048" y="3566160"/>
            <a:ext cx="2400300" cy="312039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653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  Audit trail &amp; access controls</a:t>
            </a:r>
            <a:endParaRPr lang="en-US" sz="653" dirty="0"/>
          </a:p>
        </p:txBody>
      </p:sp>
      <p:sp>
        <p:nvSpPr>
          <p:cNvPr id="97" name="Text 95"/>
          <p:cNvSpPr/>
          <p:nvPr/>
        </p:nvSpPr>
        <p:spPr>
          <a:xfrm>
            <a:off x="2825496" y="3566160"/>
            <a:ext cx="1513904" cy="312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98" name="Text 96"/>
          <p:cNvSpPr/>
          <p:nvPr/>
        </p:nvSpPr>
        <p:spPr>
          <a:xfrm>
            <a:off x="4339399" y="3566160"/>
            <a:ext cx="1513904" cy="312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99" name="Text 97"/>
          <p:cNvSpPr/>
          <p:nvPr/>
        </p:nvSpPr>
        <p:spPr>
          <a:xfrm>
            <a:off x="5853303" y="3566160"/>
            <a:ext cx="1513904" cy="312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100" name="Text 98"/>
          <p:cNvSpPr/>
          <p:nvPr/>
        </p:nvSpPr>
        <p:spPr>
          <a:xfrm>
            <a:off x="7367206" y="3566160"/>
            <a:ext cx="1513904" cy="312039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endParaRPr lang="en-US" sz="100" dirty="0"/>
          </a:p>
        </p:txBody>
      </p:sp>
      <p:sp>
        <p:nvSpPr>
          <p:cNvPr id="101" name="Text 99"/>
          <p:cNvSpPr/>
          <p:nvPr/>
        </p:nvSpPr>
        <p:spPr>
          <a:xfrm>
            <a:off x="2948940" y="3619652"/>
            <a:ext cx="1267016" cy="205055"/>
          </a:xfrm>
          <a:prstGeom prst="roundRect">
            <a:avLst/>
          </a:prstGeom>
          <a:solidFill>
            <a:srgbClr val="B8C0CA"/>
          </a:solidFill>
          <a:ln w="2540">
            <a:solidFill>
              <a:srgbClr val="B8C0CA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780" dirty="0"/>
          </a:p>
        </p:txBody>
      </p:sp>
      <p:sp>
        <p:nvSpPr>
          <p:cNvPr id="102" name="Text 100"/>
          <p:cNvSpPr/>
          <p:nvPr/>
        </p:nvSpPr>
        <p:spPr>
          <a:xfrm>
            <a:off x="4462843" y="3619652"/>
            <a:ext cx="1267016" cy="205055"/>
          </a:xfrm>
          <a:prstGeom prst="roundRect">
            <a:avLst/>
          </a:prstGeom>
          <a:solidFill>
            <a:srgbClr val="2F89C7"/>
          </a:solidFill>
          <a:ln w="2540">
            <a:solidFill>
              <a:srgbClr val="2F89C7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780" dirty="0"/>
          </a:p>
        </p:txBody>
      </p:sp>
      <p:sp>
        <p:nvSpPr>
          <p:cNvPr id="103" name="Text 101"/>
          <p:cNvSpPr/>
          <p:nvPr/>
        </p:nvSpPr>
        <p:spPr>
          <a:xfrm>
            <a:off x="5976747" y="3619652"/>
            <a:ext cx="1267016" cy="205055"/>
          </a:xfrm>
          <a:prstGeom prst="roundRect">
            <a:avLst/>
          </a:prstGeom>
          <a:solidFill>
            <a:srgbClr val="2F89C7"/>
          </a:solidFill>
          <a:ln w="2540">
            <a:solidFill>
              <a:srgbClr val="2F89C7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780" dirty="0"/>
          </a:p>
        </p:txBody>
      </p:sp>
      <p:sp>
        <p:nvSpPr>
          <p:cNvPr id="104" name="Text 102"/>
          <p:cNvSpPr/>
          <p:nvPr/>
        </p:nvSpPr>
        <p:spPr>
          <a:xfrm>
            <a:off x="7490650" y="3619652"/>
            <a:ext cx="1267016" cy="205055"/>
          </a:xfrm>
          <a:prstGeom prst="roundRect">
            <a:avLst/>
          </a:prstGeom>
          <a:solidFill>
            <a:srgbClr val="0F4A68"/>
          </a:solidFill>
          <a:ln w="2540">
            <a:solidFill>
              <a:srgbClr val="0F4A68"/>
            </a:solidFill>
          </a:ln>
        </p:spPr>
        <p:txBody>
          <a:bodyPr wrap="square" lIns="191" tIns="191" rIns="191" bIns="191" rtlCol="0" anchor="ctr">
            <a:normAutofit/>
          </a:bodyPr>
          <a:lstStyle/>
          <a:p>
            <a:pPr algn="ctr"/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Strong</a:t>
            </a:r>
            <a:endParaRPr lang="en-US" sz="780" dirty="0"/>
          </a:p>
        </p:txBody>
      </p:sp>
      <p:sp>
        <p:nvSpPr>
          <p:cNvPr id="105" name="Shape 103"/>
          <p:cNvSpPr/>
          <p:nvPr/>
        </p:nvSpPr>
        <p:spPr>
          <a:xfrm>
            <a:off x="274320" y="781812"/>
            <a:ext cx="8606790" cy="3096387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06" name="Shape 104"/>
          <p:cNvSpPr/>
          <p:nvPr/>
        </p:nvSpPr>
        <p:spPr>
          <a:xfrm>
            <a:off x="274320" y="3991356"/>
            <a:ext cx="8606790" cy="72009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9DEE5">
                <a:alpha val="65000"/>
              </a:srgbClr>
            </a:solidFill>
            <a:prstDash val="solid"/>
          </a:ln>
          <a:effectLst>
            <a:outerShdw blurRad="25400" dist="50800" dir="2700000" algn="bl" rotWithShape="0">
              <a:srgbClr val="CBD5E1">
                <a:alpha val="12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07" name="Shape 105"/>
          <p:cNvSpPr/>
          <p:nvPr/>
        </p:nvSpPr>
        <p:spPr>
          <a:xfrm>
            <a:off x="274320" y="3991356"/>
            <a:ext cx="48006" cy="72009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08" name="Text 106"/>
          <p:cNvSpPr/>
          <p:nvPr/>
        </p:nvSpPr>
        <p:spPr>
          <a:xfrm>
            <a:off x="466344" y="4094226"/>
            <a:ext cx="20574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endParaRPr lang="en-US" sz="563" dirty="0"/>
          </a:p>
        </p:txBody>
      </p:sp>
      <p:sp>
        <p:nvSpPr>
          <p:cNvPr id="109" name="Text 107"/>
          <p:cNvSpPr/>
          <p:nvPr/>
        </p:nvSpPr>
        <p:spPr>
          <a:xfrm>
            <a:off x="466344" y="4258818"/>
            <a:ext cx="8229600" cy="20574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 fontScale="92500" lnSpcReduction="10000"/>
          </a:bodyPr>
          <a:lstStyle/>
          <a:p>
            <a:r>
              <a:rPr lang="en-US" sz="765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Xero and QuickBooks Online Advanced rate strongly across core SME bookkeeping. Sage Intacct and Oracle NetSuite show stronger capability where control, multi-entity finance, assets, tax and enterprise assurance are more important.</a:t>
            </a:r>
            <a:endParaRPr lang="en-US" sz="765" dirty="0"/>
          </a:p>
        </p:txBody>
      </p:sp>
      <p:sp>
        <p:nvSpPr>
          <p:cNvPr id="110" name="Text 108"/>
          <p:cNvSpPr/>
          <p:nvPr/>
        </p:nvSpPr>
        <p:spPr>
          <a:xfrm>
            <a:off x="466344" y="4526280"/>
            <a:ext cx="822960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78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no assessed core bookkeeping function is rated Emerging; the category is retained for future comparison where capability is immature or largely add-on dependent.</a:t>
            </a:r>
            <a:endParaRPr lang="en-US" sz="578" dirty="0"/>
          </a:p>
        </p:txBody>
      </p:sp>
      <p:sp>
        <p:nvSpPr>
          <p:cNvPr id="111" name="Shape 109"/>
          <p:cNvSpPr/>
          <p:nvPr/>
        </p:nvSpPr>
        <p:spPr>
          <a:xfrm>
            <a:off x="274320" y="4814316"/>
            <a:ext cx="8606790" cy="0"/>
          </a:xfrm>
          <a:prstGeom prst="line">
            <a:avLst/>
          </a:prstGeom>
          <a:noFill/>
          <a:ln w="762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2" name="Text 110"/>
          <p:cNvSpPr/>
          <p:nvPr/>
        </p:nvSpPr>
        <p:spPr>
          <a:xfrm>
            <a:off x="356616" y="4903470"/>
            <a:ext cx="20574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645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FP&amp;A AI Augmentation Study</a:t>
            </a:r>
            <a:endParaRPr lang="en-US" sz="645" dirty="0"/>
          </a:p>
        </p:txBody>
      </p:sp>
      <p:sp>
        <p:nvSpPr>
          <p:cNvPr id="113" name="Text 111"/>
          <p:cNvSpPr/>
          <p:nvPr/>
        </p:nvSpPr>
        <p:spPr>
          <a:xfrm>
            <a:off x="4149090" y="4903470"/>
            <a:ext cx="85725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645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 June 2026</a:t>
            </a:r>
            <a:endParaRPr lang="en-US" sz="645" dirty="0"/>
          </a:p>
        </p:txBody>
      </p:sp>
      <p:sp>
        <p:nvSpPr>
          <p:cNvPr id="114" name="Text 112"/>
          <p:cNvSpPr/>
          <p:nvPr/>
        </p:nvSpPr>
        <p:spPr>
          <a:xfrm>
            <a:off x="8606790" y="4903470"/>
            <a:ext cx="30861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645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</a:t>
            </a:r>
            <a:endParaRPr lang="en-US" sz="64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1887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ASSESSMENT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and Reporting Tools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694944"/>
            <a:ext cx="8659368" cy="310896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&amp; Reporting Function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807208" y="69494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Datarails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416552" y="694944"/>
            <a:ext cx="1088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05272" y="694944"/>
            <a:ext cx="1408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Intacct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114032" y="694944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NetSuite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033272"/>
            <a:ext cx="8659368" cy="287122"/>
          </a:xfrm>
          <a:prstGeom prst="rect">
            <a:avLst/>
          </a:prstGeom>
          <a:solidFill>
            <a:srgbClr val="FFFFFF"/>
          </a:solidFill>
          <a:ln w="381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1033272"/>
            <a:ext cx="2249424" cy="287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 Consolidation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834640" y="1076249"/>
            <a:ext cx="1426464" cy="201168"/>
          </a:xfrm>
          <a:prstGeom prst="roundRect">
            <a:avLst>
              <a:gd name="adj" fmla="val 2272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34640" y="1076249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4443984" y="1076249"/>
            <a:ext cx="1014984" cy="201168"/>
          </a:xfrm>
          <a:prstGeom prst="roundRect">
            <a:avLst>
              <a:gd name="adj" fmla="val 2272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43984" y="1076249"/>
            <a:ext cx="1014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5632704" y="1076249"/>
            <a:ext cx="1335024" cy="201168"/>
          </a:xfrm>
          <a:prstGeom prst="roundRect">
            <a:avLst>
              <a:gd name="adj" fmla="val 2272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32704" y="1076249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7141464" y="1076249"/>
            <a:ext cx="1810512" cy="201168"/>
          </a:xfrm>
          <a:prstGeom prst="roundRect">
            <a:avLst>
              <a:gd name="adj" fmla="val 2272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41464" y="1076249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365760" y="1338682"/>
            <a:ext cx="8659368" cy="287122"/>
          </a:xfrm>
          <a:prstGeom prst="rect">
            <a:avLst/>
          </a:prstGeom>
          <a:solidFill>
            <a:srgbClr val="F8F9FA"/>
          </a:solidFill>
          <a:ln w="381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" y="1338682"/>
            <a:ext cx="2249424" cy="287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Reporting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834640" y="1381658"/>
            <a:ext cx="1426464" cy="201168"/>
          </a:xfrm>
          <a:prstGeom prst="roundRect">
            <a:avLst>
              <a:gd name="adj" fmla="val 2272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34640" y="1381658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443984" y="1381658"/>
            <a:ext cx="1014984" cy="201168"/>
          </a:xfrm>
          <a:prstGeom prst="roundRect">
            <a:avLst>
              <a:gd name="adj" fmla="val 2272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43984" y="1381658"/>
            <a:ext cx="1014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5632704" y="1381658"/>
            <a:ext cx="1335024" cy="201168"/>
          </a:xfrm>
          <a:prstGeom prst="roundRect">
            <a:avLst>
              <a:gd name="adj" fmla="val 2272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32704" y="1381658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7141464" y="1381658"/>
            <a:ext cx="1810512" cy="201168"/>
          </a:xfrm>
          <a:prstGeom prst="roundRect">
            <a:avLst>
              <a:gd name="adj" fmla="val 2272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41464" y="138165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365760" y="1644091"/>
            <a:ext cx="8659368" cy="287122"/>
          </a:xfrm>
          <a:prstGeom prst="rect">
            <a:avLst/>
          </a:prstGeom>
          <a:solidFill>
            <a:srgbClr val="FFFFFF"/>
          </a:solidFill>
          <a:ln w="381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38912" y="1644091"/>
            <a:ext cx="2249424" cy="287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Budgeting &amp; Forecasting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834640" y="1687068"/>
            <a:ext cx="1426464" cy="201168"/>
          </a:xfrm>
          <a:prstGeom prst="roundRect">
            <a:avLst>
              <a:gd name="adj" fmla="val 2272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834640" y="1687068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4443984" y="1687068"/>
            <a:ext cx="1014984" cy="201168"/>
          </a:xfrm>
          <a:prstGeom prst="roundRect">
            <a:avLst>
              <a:gd name="adj" fmla="val 2272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443984" y="1687068"/>
            <a:ext cx="1014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632704" y="1687068"/>
            <a:ext cx="1335024" cy="201168"/>
          </a:xfrm>
          <a:prstGeom prst="roundRect">
            <a:avLst>
              <a:gd name="adj" fmla="val 2272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632704" y="1687068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7141464" y="1687068"/>
            <a:ext cx="1810512" cy="201168"/>
          </a:xfrm>
          <a:prstGeom prst="roundRect">
            <a:avLst>
              <a:gd name="adj" fmla="val 22727"/>
            </a:avLst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141464" y="168706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to Very Strong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365760" y="1956325"/>
            <a:ext cx="8659368" cy="287122"/>
          </a:xfrm>
          <a:prstGeom prst="rect">
            <a:avLst/>
          </a:prstGeom>
          <a:solidFill>
            <a:srgbClr val="F8F9FA"/>
          </a:solidFill>
          <a:ln w="381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38912" y="1949501"/>
            <a:ext cx="2249424" cy="287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Analysis and Anomaly Detection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834640" y="1992478"/>
            <a:ext cx="1426464" cy="201168"/>
          </a:xfrm>
          <a:prstGeom prst="roundRect">
            <a:avLst>
              <a:gd name="adj" fmla="val 2272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834640" y="1992478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4443984" y="1992478"/>
            <a:ext cx="1014984" cy="201168"/>
          </a:xfrm>
          <a:prstGeom prst="roundRect">
            <a:avLst>
              <a:gd name="adj" fmla="val 2272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443984" y="1992478"/>
            <a:ext cx="1014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5632704" y="1992478"/>
            <a:ext cx="1335024" cy="201168"/>
          </a:xfrm>
          <a:prstGeom prst="roundRect">
            <a:avLst>
              <a:gd name="adj" fmla="val 2272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632704" y="1992478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7141464" y="1992478"/>
            <a:ext cx="1810512" cy="201168"/>
          </a:xfrm>
          <a:prstGeom prst="roundRect">
            <a:avLst>
              <a:gd name="adj" fmla="val 2272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141464" y="199247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365760" y="2254910"/>
            <a:ext cx="8659368" cy="287122"/>
          </a:xfrm>
          <a:prstGeom prst="rect">
            <a:avLst/>
          </a:prstGeom>
          <a:solidFill>
            <a:srgbClr val="FFFFFF"/>
          </a:solidFill>
          <a:ln w="381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38912" y="2254910"/>
            <a:ext cx="2249424" cy="287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Reporting &amp; Planning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834640" y="2297887"/>
            <a:ext cx="1426464" cy="201168"/>
          </a:xfrm>
          <a:prstGeom prst="roundRect">
            <a:avLst>
              <a:gd name="adj" fmla="val 2272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834640" y="2297887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4443984" y="2297887"/>
            <a:ext cx="1014984" cy="201168"/>
          </a:xfrm>
          <a:prstGeom prst="roundRect">
            <a:avLst>
              <a:gd name="adj" fmla="val 2272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443984" y="2297887"/>
            <a:ext cx="1014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5632704" y="2297887"/>
            <a:ext cx="1335024" cy="201168"/>
          </a:xfrm>
          <a:prstGeom prst="roundRect">
            <a:avLst>
              <a:gd name="adj" fmla="val 2272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632704" y="2297887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7141464" y="2297887"/>
            <a:ext cx="1810512" cy="201168"/>
          </a:xfrm>
          <a:prstGeom prst="roundRect">
            <a:avLst>
              <a:gd name="adj" fmla="val 2272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141464" y="2297887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365760" y="2560320"/>
            <a:ext cx="8659368" cy="287122"/>
          </a:xfrm>
          <a:prstGeom prst="rect">
            <a:avLst/>
          </a:prstGeom>
          <a:solidFill>
            <a:srgbClr val="F8F9FA"/>
          </a:solidFill>
          <a:ln w="381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38912" y="2560320"/>
            <a:ext cx="2249424" cy="287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Modelling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834640" y="2603297"/>
            <a:ext cx="1426464" cy="201168"/>
          </a:xfrm>
          <a:prstGeom prst="roundRect">
            <a:avLst>
              <a:gd name="adj" fmla="val 2272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834640" y="2603297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4443984" y="2603297"/>
            <a:ext cx="1014984" cy="201168"/>
          </a:xfrm>
          <a:prstGeom prst="roundRect">
            <a:avLst>
              <a:gd name="adj" fmla="val 2272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443984" y="2603297"/>
            <a:ext cx="1014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5632704" y="2603297"/>
            <a:ext cx="1335024" cy="201168"/>
          </a:xfrm>
          <a:prstGeom prst="roundRect">
            <a:avLst>
              <a:gd name="adj" fmla="val 22727"/>
            </a:avLst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632704" y="2603297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to Strong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7141464" y="2603297"/>
            <a:ext cx="1810512" cy="201168"/>
          </a:xfrm>
          <a:prstGeom prst="roundRect">
            <a:avLst>
              <a:gd name="adj" fmla="val 2272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7141464" y="2603297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365760" y="2865730"/>
            <a:ext cx="8659368" cy="287122"/>
          </a:xfrm>
          <a:prstGeom prst="rect">
            <a:avLst/>
          </a:prstGeom>
          <a:solidFill>
            <a:srgbClr val="FFFFFF"/>
          </a:solidFill>
          <a:ln w="381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38912" y="2865730"/>
            <a:ext cx="2249424" cy="287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 Executive Reporting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834640" y="2908706"/>
            <a:ext cx="1426464" cy="201168"/>
          </a:xfrm>
          <a:prstGeom prst="roundRect">
            <a:avLst>
              <a:gd name="adj" fmla="val 2272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2834640" y="2908706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4443984" y="2908706"/>
            <a:ext cx="1014984" cy="201168"/>
          </a:xfrm>
          <a:prstGeom prst="roundRect">
            <a:avLst>
              <a:gd name="adj" fmla="val 2272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443984" y="2908706"/>
            <a:ext cx="1014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5632704" y="2908706"/>
            <a:ext cx="1335024" cy="201168"/>
          </a:xfrm>
          <a:prstGeom prst="roundRect">
            <a:avLst>
              <a:gd name="adj" fmla="val 2272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632704" y="2908706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7141464" y="2908706"/>
            <a:ext cx="1810512" cy="201168"/>
          </a:xfrm>
          <a:prstGeom prst="roundRect">
            <a:avLst>
              <a:gd name="adj" fmla="val 2272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7141464" y="2908706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365760" y="3171139"/>
            <a:ext cx="8659368" cy="287122"/>
          </a:xfrm>
          <a:prstGeom prst="rect">
            <a:avLst/>
          </a:prstGeom>
          <a:solidFill>
            <a:srgbClr val="F8F9FA"/>
          </a:solidFill>
          <a:ln w="381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438912" y="3171139"/>
            <a:ext cx="2249424" cy="287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KPI Reporting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2834640" y="3214116"/>
            <a:ext cx="1426464" cy="201168"/>
          </a:xfrm>
          <a:prstGeom prst="roundRect">
            <a:avLst>
              <a:gd name="adj" fmla="val 2272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2834640" y="3214116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4443984" y="3214116"/>
            <a:ext cx="1014984" cy="201168"/>
          </a:xfrm>
          <a:prstGeom prst="roundRect">
            <a:avLst>
              <a:gd name="adj" fmla="val 2272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4443984" y="3214116"/>
            <a:ext cx="1014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5632704" y="3214116"/>
            <a:ext cx="1335024" cy="201168"/>
          </a:xfrm>
          <a:prstGeom prst="roundRect">
            <a:avLst>
              <a:gd name="adj" fmla="val 2272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5632704" y="3214116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7141464" y="3214116"/>
            <a:ext cx="1810512" cy="201168"/>
          </a:xfrm>
          <a:prstGeom prst="roundRect">
            <a:avLst>
              <a:gd name="adj" fmla="val 2272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7141464" y="3214116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365760" y="3476549"/>
            <a:ext cx="8659368" cy="287122"/>
          </a:xfrm>
          <a:prstGeom prst="rect">
            <a:avLst/>
          </a:prstGeom>
          <a:solidFill>
            <a:srgbClr val="FFFFFF"/>
          </a:solidFill>
          <a:ln w="381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438912" y="3476549"/>
            <a:ext cx="2249424" cy="287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Spreadsheet Integration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2834640" y="3519526"/>
            <a:ext cx="1426464" cy="201168"/>
          </a:xfrm>
          <a:prstGeom prst="roundRect">
            <a:avLst>
              <a:gd name="adj" fmla="val 2272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2834640" y="3519526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4443984" y="3519526"/>
            <a:ext cx="1014984" cy="201168"/>
          </a:xfrm>
          <a:prstGeom prst="roundRect">
            <a:avLst>
              <a:gd name="adj" fmla="val 2272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4443984" y="3519526"/>
            <a:ext cx="1014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5632704" y="3519526"/>
            <a:ext cx="1335024" cy="201168"/>
          </a:xfrm>
          <a:prstGeom prst="roundRect">
            <a:avLst>
              <a:gd name="adj" fmla="val 22727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5632704" y="3519526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7141464" y="3519526"/>
            <a:ext cx="1810512" cy="201168"/>
          </a:xfrm>
          <a:prstGeom prst="roundRect">
            <a:avLst>
              <a:gd name="adj" fmla="val 22727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7141464" y="3519526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365760" y="3781958"/>
            <a:ext cx="8659368" cy="287122"/>
          </a:xfrm>
          <a:prstGeom prst="rect">
            <a:avLst/>
          </a:prstGeom>
          <a:solidFill>
            <a:srgbClr val="F8F9FA"/>
          </a:solidFill>
          <a:ln w="381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438912" y="3781958"/>
            <a:ext cx="2249424" cy="287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Interpretation &amp; Commentary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2834640" y="3824935"/>
            <a:ext cx="1426464" cy="201168"/>
          </a:xfrm>
          <a:prstGeom prst="roundRect">
            <a:avLst>
              <a:gd name="adj" fmla="val 22727"/>
            </a:avLst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2834640" y="3824935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to Strong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4443984" y="3824935"/>
            <a:ext cx="1014984" cy="201168"/>
          </a:xfrm>
          <a:prstGeom prst="roundRect">
            <a:avLst>
              <a:gd name="adj" fmla="val 22727"/>
            </a:avLst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4443984" y="3824935"/>
            <a:ext cx="1014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to Strong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5632704" y="3824935"/>
            <a:ext cx="1335024" cy="201168"/>
          </a:xfrm>
          <a:prstGeom prst="roundRect">
            <a:avLst>
              <a:gd name="adj" fmla="val 22727"/>
            </a:avLst>
          </a:prstGeom>
          <a:solidFill>
            <a:srgbClr val="D9DEE5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5632704" y="3824935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7141464" y="3824935"/>
            <a:ext cx="1810512" cy="201168"/>
          </a:xfrm>
          <a:prstGeom prst="roundRect">
            <a:avLst>
              <a:gd name="adj" fmla="val 22727"/>
            </a:avLst>
          </a:prstGeom>
          <a:solidFill>
            <a:srgbClr val="D9DEE5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7141464" y="3824935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650" dirty="0"/>
          </a:p>
        </p:txBody>
      </p:sp>
      <p:sp>
        <p:nvSpPr>
          <p:cNvPr id="110" name="Shape 108"/>
          <p:cNvSpPr/>
          <p:nvPr/>
        </p:nvSpPr>
        <p:spPr>
          <a:xfrm>
            <a:off x="365760" y="4142232"/>
            <a:ext cx="8659368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365760" y="4142232"/>
            <a:ext cx="45720" cy="59436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687300" y="4375404"/>
            <a:ext cx="6536459" cy="223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530352" y="4361688"/>
            <a:ext cx="84307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</a:t>
            </a:r>
            <a:r>
              <a:rPr lang="en-US" sz="850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Datarails</a:t>
            </a: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Cube lead across budgeting, variance analysis and Excel integration, confirming their role as specialist FP&amp;A augmentation layers.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365760" y="487375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AI Augmentation Study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4937760" y="48737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June 2026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8138160" y="48737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192024"/>
            <a:ext cx="219456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D719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TOOL COVERAGE</a:t>
            </a:r>
            <a:endParaRPr lang="en-US" sz="788" dirty="0"/>
          </a:p>
        </p:txBody>
      </p:sp>
      <p:sp>
        <p:nvSpPr>
          <p:cNvPr id="3" name="Text 1"/>
          <p:cNvSpPr/>
          <p:nvPr/>
        </p:nvSpPr>
        <p:spPr>
          <a:xfrm>
            <a:off x="377190" y="425196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325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Again, this works with these AI tools</a:t>
            </a:r>
            <a:endParaRPr lang="en-US" sz="2325" dirty="0"/>
          </a:p>
        </p:txBody>
      </p:sp>
      <p:sp>
        <p:nvSpPr>
          <p:cNvPr id="4" name="Shape 2"/>
          <p:cNvSpPr/>
          <p:nvPr/>
        </p:nvSpPr>
        <p:spPr>
          <a:xfrm>
            <a:off x="377190" y="946404"/>
            <a:ext cx="840105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377190" y="1083564"/>
            <a:ext cx="8401050" cy="291465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0160">
            <a:solidFill>
              <a:srgbClr val="D9DEE5"/>
            </a:solidFill>
            <a:prstDash val="solid"/>
          </a:ln>
          <a:effectLst>
            <a:outerShdw blurRad="15240" dist="50800" dir="2700000" algn="bl" rotWithShape="0">
              <a:srgbClr val="A6ADB6">
                <a:alpha val="12000"/>
              </a:srgbClr>
            </a:outerShdw>
          </a:effectLst>
        </p:spPr>
        <p:txBody>
          <a:bodyPr/>
          <a:lstStyle/>
          <a:p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77190" y="1083564"/>
            <a:ext cx="8401050" cy="294894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514350" y="115900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tool ecosystem</a:t>
            </a:r>
            <a:endParaRPr lang="en-US" sz="788" dirty="0"/>
          </a:p>
        </p:txBody>
      </p:sp>
      <p:sp>
        <p:nvSpPr>
          <p:cNvPr id="8" name="Text 6"/>
          <p:cNvSpPr/>
          <p:nvPr/>
        </p:nvSpPr>
        <p:spPr>
          <a:xfrm>
            <a:off x="5280660" y="1159002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88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workflow logic, different assistant interface</a:t>
            </a:r>
            <a:endParaRPr lang="en-US" sz="788" dirty="0"/>
          </a:p>
        </p:txBody>
      </p:sp>
      <p:sp>
        <p:nvSpPr>
          <p:cNvPr id="9" name="Shape 7"/>
          <p:cNvSpPr/>
          <p:nvPr/>
        </p:nvSpPr>
        <p:spPr>
          <a:xfrm>
            <a:off x="877824" y="1529334"/>
            <a:ext cx="1611630" cy="973836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9DEE5"/>
            </a:solidFill>
            <a:prstDash val="solid"/>
          </a:ln>
          <a:effectLst>
            <a:outerShdw blurRad="15240" dist="50800" dir="2700000" algn="bl" rotWithShape="0">
              <a:srgbClr val="A6ADB6">
                <a:alpha val="16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0" name="Shape 8"/>
          <p:cNvSpPr/>
          <p:nvPr/>
        </p:nvSpPr>
        <p:spPr>
          <a:xfrm>
            <a:off x="925830" y="1577340"/>
            <a:ext cx="308610" cy="24003"/>
          </a:xfrm>
          <a:prstGeom prst="rect">
            <a:avLst/>
          </a:prstGeom>
          <a:solidFill>
            <a:srgbClr val="2F80B9"/>
          </a:solidFill>
          <a:ln w="12700">
            <a:solidFill>
              <a:srgbClr val="2F80B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pic>
        <p:nvPicPr>
          <p:cNvPr id="11" name="Image 0" descr="/mnt/data/logos_cropped/copi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659" y="1680210"/>
            <a:ext cx="569961" cy="4937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46404" y="2208276"/>
            <a:ext cx="14744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38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</a:t>
            </a:r>
            <a:endParaRPr lang="en-US" sz="938" dirty="0"/>
          </a:p>
        </p:txBody>
      </p:sp>
      <p:sp>
        <p:nvSpPr>
          <p:cNvPr id="13" name="Shape 10"/>
          <p:cNvSpPr/>
          <p:nvPr/>
        </p:nvSpPr>
        <p:spPr>
          <a:xfrm>
            <a:off x="2777490" y="1529334"/>
            <a:ext cx="1611630" cy="973836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9DEE5"/>
            </a:solidFill>
            <a:prstDash val="solid"/>
          </a:ln>
          <a:effectLst>
            <a:outerShdw blurRad="15240" dist="50800" dir="2700000" algn="bl" rotWithShape="0">
              <a:srgbClr val="A6ADB6">
                <a:alpha val="16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4" name="Shape 11"/>
          <p:cNvSpPr/>
          <p:nvPr/>
        </p:nvSpPr>
        <p:spPr>
          <a:xfrm>
            <a:off x="2825496" y="1577340"/>
            <a:ext cx="308610" cy="24003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pic>
        <p:nvPicPr>
          <p:cNvPr id="15" name="Image 1" descr="/mnt/data/logos_cropped/gemi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2648" y="1680210"/>
            <a:ext cx="641314" cy="4937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46070" y="2208276"/>
            <a:ext cx="14744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38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</a:t>
            </a:r>
            <a:endParaRPr lang="en-US" sz="938" dirty="0"/>
          </a:p>
        </p:txBody>
      </p:sp>
      <p:sp>
        <p:nvSpPr>
          <p:cNvPr id="17" name="Shape 13"/>
          <p:cNvSpPr/>
          <p:nvPr/>
        </p:nvSpPr>
        <p:spPr>
          <a:xfrm>
            <a:off x="4677156" y="1529334"/>
            <a:ext cx="1611630" cy="973836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9DEE5"/>
            </a:solidFill>
            <a:prstDash val="solid"/>
          </a:ln>
          <a:effectLst>
            <a:outerShdw blurRad="15240" dist="50800" dir="2700000" algn="bl" rotWithShape="0">
              <a:srgbClr val="A6ADB6">
                <a:alpha val="16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8" name="Shape 14"/>
          <p:cNvSpPr/>
          <p:nvPr/>
        </p:nvSpPr>
        <p:spPr>
          <a:xfrm>
            <a:off x="4725162" y="1577340"/>
            <a:ext cx="308610" cy="24003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pic>
        <p:nvPicPr>
          <p:cNvPr id="19" name="Image 2" descr="/mnt/data/logos_cropped/chatg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9567" y="1680210"/>
            <a:ext cx="486809" cy="4937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45736" y="2208276"/>
            <a:ext cx="14744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38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ChatGPT</a:t>
            </a:r>
            <a:endParaRPr lang="en-US" sz="938" dirty="0"/>
          </a:p>
        </p:txBody>
      </p:sp>
      <p:sp>
        <p:nvSpPr>
          <p:cNvPr id="21" name="Shape 16"/>
          <p:cNvSpPr/>
          <p:nvPr/>
        </p:nvSpPr>
        <p:spPr>
          <a:xfrm>
            <a:off x="6576822" y="1529334"/>
            <a:ext cx="1611630" cy="973836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9DEE5"/>
            </a:solidFill>
            <a:prstDash val="solid"/>
          </a:ln>
          <a:effectLst>
            <a:outerShdw blurRad="15240" dist="50800" dir="2700000" algn="bl" rotWithShape="0">
              <a:srgbClr val="A6ADB6">
                <a:alpha val="16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22" name="Shape 17"/>
          <p:cNvSpPr/>
          <p:nvPr/>
        </p:nvSpPr>
        <p:spPr>
          <a:xfrm>
            <a:off x="6624828" y="1577340"/>
            <a:ext cx="308610" cy="24003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pic>
        <p:nvPicPr>
          <p:cNvPr id="23" name="Image 3" descr="/mnt/data/logos_cropped/clau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592" y="1849813"/>
            <a:ext cx="720090" cy="15457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45402" y="2208276"/>
            <a:ext cx="14744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38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 AI</a:t>
            </a:r>
            <a:endParaRPr lang="en-US" sz="938" dirty="0"/>
          </a:p>
        </p:txBody>
      </p:sp>
      <p:sp>
        <p:nvSpPr>
          <p:cNvPr id="25" name="Shape 19"/>
          <p:cNvSpPr/>
          <p:nvPr/>
        </p:nvSpPr>
        <p:spPr>
          <a:xfrm>
            <a:off x="1844802" y="2708910"/>
            <a:ext cx="1611630" cy="973836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9DEE5"/>
            </a:solidFill>
            <a:prstDash val="solid"/>
          </a:ln>
          <a:effectLst>
            <a:outerShdw blurRad="15240" dist="50800" dir="2700000" algn="bl" rotWithShape="0">
              <a:srgbClr val="A6ADB6">
                <a:alpha val="16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26" name="Shape 20"/>
          <p:cNvSpPr/>
          <p:nvPr/>
        </p:nvSpPr>
        <p:spPr>
          <a:xfrm>
            <a:off x="1892808" y="2756916"/>
            <a:ext cx="308610" cy="24003"/>
          </a:xfrm>
          <a:prstGeom prst="rect">
            <a:avLst/>
          </a:prstGeom>
          <a:solidFill>
            <a:srgbClr val="0081FB"/>
          </a:solidFill>
          <a:ln w="12700">
            <a:solidFill>
              <a:srgbClr val="0081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pic>
        <p:nvPicPr>
          <p:cNvPr id="27" name="Image 4" descr="/mnt/data/logos_cropped/meta_a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6282" y="3040952"/>
            <a:ext cx="788670" cy="13144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913382" y="3387852"/>
            <a:ext cx="14744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38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 AI</a:t>
            </a:r>
            <a:endParaRPr lang="en-US" sz="938" dirty="0"/>
          </a:p>
        </p:txBody>
      </p:sp>
      <p:sp>
        <p:nvSpPr>
          <p:cNvPr id="38" name="Shape 29"/>
          <p:cNvSpPr/>
          <p:nvPr/>
        </p:nvSpPr>
        <p:spPr>
          <a:xfrm>
            <a:off x="377190" y="4149090"/>
            <a:ext cx="48006" cy="562356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9" name="Text 30"/>
          <p:cNvSpPr/>
          <p:nvPr/>
        </p:nvSpPr>
        <p:spPr>
          <a:xfrm>
            <a:off x="569214" y="4265676"/>
            <a:ext cx="10972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660" dirty="0"/>
          </a:p>
        </p:txBody>
      </p:sp>
      <p:sp>
        <p:nvSpPr>
          <p:cNvPr id="40" name="Text 31"/>
          <p:cNvSpPr/>
          <p:nvPr/>
        </p:nvSpPr>
        <p:spPr>
          <a:xfrm>
            <a:off x="569214" y="4409694"/>
            <a:ext cx="79209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chemeClr val="accent1">
                    <a:lumMod val="50000"/>
                  </a:schemeClr>
                </a:solidFill>
              </a:rPr>
              <a:t>“The constraint is not AI availability, but governed data access’’</a:t>
            </a:r>
          </a:p>
        </p:txBody>
      </p:sp>
      <p:sp>
        <p:nvSpPr>
          <p:cNvPr id="41" name="Shape 32"/>
          <p:cNvSpPr/>
          <p:nvPr/>
        </p:nvSpPr>
        <p:spPr>
          <a:xfrm>
            <a:off x="377190" y="4834890"/>
            <a:ext cx="8401050" cy="0"/>
          </a:xfrm>
          <a:prstGeom prst="line">
            <a:avLst/>
          </a:prstGeom>
          <a:noFill/>
          <a:ln w="1016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2" name="Text 33"/>
          <p:cNvSpPr/>
          <p:nvPr/>
        </p:nvSpPr>
        <p:spPr>
          <a:xfrm>
            <a:off x="377190" y="4896612"/>
            <a:ext cx="2057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FP&amp;A AI Augmentation Study</a:t>
            </a:r>
            <a:endParaRPr lang="en-US" sz="788" dirty="0"/>
          </a:p>
        </p:txBody>
      </p:sp>
      <p:sp>
        <p:nvSpPr>
          <p:cNvPr id="43" name="Text 34"/>
          <p:cNvSpPr/>
          <p:nvPr/>
        </p:nvSpPr>
        <p:spPr>
          <a:xfrm>
            <a:off x="3737610" y="4896612"/>
            <a:ext cx="1645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 June 2026</a:t>
            </a:r>
            <a:endParaRPr lang="en-US" sz="788" dirty="0"/>
          </a:p>
        </p:txBody>
      </p:sp>
      <p:sp>
        <p:nvSpPr>
          <p:cNvPr id="44" name="Text 35"/>
          <p:cNvSpPr/>
          <p:nvPr/>
        </p:nvSpPr>
        <p:spPr>
          <a:xfrm>
            <a:off x="8263890" y="4896612"/>
            <a:ext cx="51435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88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</a:t>
            </a:r>
            <a:endParaRPr lang="en-US" sz="788" dirty="0"/>
          </a:p>
        </p:txBody>
      </p:sp>
      <p:sp>
        <p:nvSpPr>
          <p:cNvPr id="37" name="Shape 22">
            <a:extLst>
              <a:ext uri="{FF2B5EF4-FFF2-40B4-BE49-F238E27FC236}">
                <a16:creationId xmlns:a16="http://schemas.microsoft.com/office/drawing/2014/main" id="{E1B7A788-C84F-C899-0DD4-A192FDEEA60A}"/>
              </a:ext>
            </a:extLst>
          </p:cNvPr>
          <p:cNvSpPr/>
          <p:nvPr/>
        </p:nvSpPr>
        <p:spPr>
          <a:xfrm>
            <a:off x="5812140" y="2705481"/>
            <a:ext cx="1611630" cy="973836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9DEE5"/>
            </a:solidFill>
            <a:prstDash val="solid"/>
          </a:ln>
          <a:effectLst>
            <a:outerShdw blurRad="15240" dist="50800" dir="2700000" algn="bl" rotWithShape="0">
              <a:srgbClr val="A6ADB6">
                <a:alpha val="16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pic>
        <p:nvPicPr>
          <p:cNvPr id="45" name="Image 5" descr="/mnt/data/logos_cropped/perplexity.png">
            <a:extLst>
              <a:ext uri="{FF2B5EF4-FFF2-40B4-BE49-F238E27FC236}">
                <a16:creationId xmlns:a16="http://schemas.microsoft.com/office/drawing/2014/main" id="{BA1716C3-666C-2712-AE9C-72F1C2E70C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762" y="2856357"/>
            <a:ext cx="562387" cy="493776"/>
          </a:xfrm>
          <a:prstGeom prst="rect">
            <a:avLst/>
          </a:prstGeom>
        </p:spPr>
      </p:pic>
      <p:sp>
        <p:nvSpPr>
          <p:cNvPr id="46" name="Text 24">
            <a:extLst>
              <a:ext uri="{FF2B5EF4-FFF2-40B4-BE49-F238E27FC236}">
                <a16:creationId xmlns:a16="http://schemas.microsoft.com/office/drawing/2014/main" id="{48A77846-122B-3574-E0DC-E1E7EFA621FA}"/>
              </a:ext>
            </a:extLst>
          </p:cNvPr>
          <p:cNvSpPr/>
          <p:nvPr/>
        </p:nvSpPr>
        <p:spPr>
          <a:xfrm>
            <a:off x="5880720" y="3384423"/>
            <a:ext cx="14744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38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Perplexity</a:t>
            </a:r>
            <a:endParaRPr lang="en-US" sz="938" dirty="0"/>
          </a:p>
        </p:txBody>
      </p:sp>
      <p:sp>
        <p:nvSpPr>
          <p:cNvPr id="48" name="Shape 23">
            <a:extLst>
              <a:ext uri="{FF2B5EF4-FFF2-40B4-BE49-F238E27FC236}">
                <a16:creationId xmlns:a16="http://schemas.microsoft.com/office/drawing/2014/main" id="{FA1FEBA7-D001-387A-B1EE-75ABD3C7CA6F}"/>
              </a:ext>
            </a:extLst>
          </p:cNvPr>
          <p:cNvSpPr/>
          <p:nvPr/>
        </p:nvSpPr>
        <p:spPr>
          <a:xfrm>
            <a:off x="5879028" y="2767203"/>
            <a:ext cx="308610" cy="24003"/>
          </a:xfrm>
          <a:prstGeom prst="rect">
            <a:avLst/>
          </a:prstGeom>
          <a:solidFill>
            <a:srgbClr val="16828B"/>
          </a:solidFill>
          <a:ln w="12700">
            <a:solidFill>
              <a:srgbClr val="1682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preliminary review to controlled proof-of-concept implementation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594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170432" y="1490472"/>
            <a:ext cx="0" cy="475488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25880" y="14447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Comparative 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1737360"/>
            <a:ext cx="7269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comparison of Xero, Datarails, Cube, QuickBooks Advanced, Sage Intacct and Oracle NetSuite against identified weakness criteria (RQ3).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221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594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170432" y="2359152"/>
            <a:ext cx="0" cy="475488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25880" y="23134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Technology Mapping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606040"/>
            <a:ext cx="7269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Claude AI, ChatGPT, Gemini, Meta AI, Perplexity, Copilot and Basis AI against human-</a:t>
            </a:r>
            <a:r>
              <a:rPr lang="en-US" sz="1050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centred</a:t>
            </a: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Book-keeping and FP&amp;A dimensions — forecasting, narrative, decision support (RQ4–RQ6).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09067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200400"/>
            <a:ext cx="594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170432" y="3227832"/>
            <a:ext cx="0" cy="475488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25880" y="31821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Risk Framework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25880" y="3474720"/>
            <a:ext cx="7269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structured assessment of data integrity, compliance and assurance risks for AI deployment in an SME finance context.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95935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069080"/>
            <a:ext cx="594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170432" y="4096512"/>
            <a:ext cx="0" cy="475488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25880" y="40507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Design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25880" y="4343400"/>
            <a:ext cx="7269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</a:t>
            </a:r>
            <a:r>
              <a:rPr lang="en-US" sz="10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LLM’s against anonymised financial outputs using read-only data. Establish human review protocols before any live deployment.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AI Augmentation Study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48920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June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13816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1890</TotalTime>
  <Words>1334</Words>
  <Application>Microsoft Office PowerPoint</Application>
  <PresentationFormat>On-screen Show (16:9)</PresentationFormat>
  <Paragraphs>268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Aptos Light</vt:lpstr>
      <vt:lpstr>Arial</vt:lpstr>
      <vt:lpstr>Bradley Hand ITC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Augmentation of FP&amp;A Systems</dc:title>
  <dc:subject>PptxGenJS Presentation</dc:subject>
  <dc:creator>PptxGenJS</dc:creator>
  <cp:lastModifiedBy>Office</cp:lastModifiedBy>
  <cp:revision>7</cp:revision>
  <dcterms:created xsi:type="dcterms:W3CDTF">2026-06-25T23:11:10Z</dcterms:created>
  <dcterms:modified xsi:type="dcterms:W3CDTF">2026-07-08T03:01:01Z</dcterms:modified>
</cp:coreProperties>
</file>